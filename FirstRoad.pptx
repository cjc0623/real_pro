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0" r:id="rId4"/>
    <p:sldId id="267" r:id="rId5"/>
    <p:sldId id="266" r:id="rId6"/>
    <p:sldId id="268" r:id="rId7"/>
    <p:sldId id="258" r:id="rId8"/>
    <p:sldId id="269" r:id="rId9"/>
    <p:sldId id="261" r:id="rId10"/>
    <p:sldId id="270" r:id="rId11"/>
    <p:sldId id="271" r:id="rId12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lyms" initials="h" lastIdx="1" clrIdx="0">
    <p:extLst>
      <p:ext uri="{19B8F6BF-5375-455C-9EA6-DF929625EA0E}">
        <p15:presenceInfo xmlns:p15="http://schemas.microsoft.com/office/powerpoint/2012/main" userId="hallym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6E4"/>
    <a:srgbClr val="0D9488"/>
    <a:srgbClr val="ECFDF7"/>
    <a:srgbClr val="FED7AA"/>
    <a:srgbClr val="616161"/>
    <a:srgbClr val="FFF7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2" autoAdjust="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02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4B6967-262B-47A1-9B9F-A680E9240E56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1B5F93-BC11-460D-B59F-727995992C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9801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1B5F93-BC11-460D-B59F-727995992CC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522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rdorintelligence.kr/industry-reports/freight-forwarding-market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irstroad.duckdns.org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48640" y="1333937"/>
            <a:ext cx="10332720" cy="3631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2000" b="1" dirty="0" err="1">
                <a:solidFill>
                  <a:srgbClr val="0070C0"/>
                </a:solidFill>
                <a:latin typeface="맑은 고딕"/>
                <a:ea typeface="맑은 고딕"/>
                <a:cs typeface="맑은 고딕"/>
              </a:rPr>
              <a:t>화물운송</a:t>
            </a:r>
            <a:r>
              <a:rPr sz="2000" b="1" dirty="0">
                <a:solidFill>
                  <a:srgbClr val="0070C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0070C0"/>
                </a:solidFill>
                <a:latin typeface="맑은 고딕"/>
                <a:ea typeface="맑은 고딕"/>
                <a:cs typeface="맑은 고딕"/>
              </a:rPr>
              <a:t>중개</a:t>
            </a:r>
            <a:r>
              <a:rPr sz="2000" b="1" dirty="0">
                <a:solidFill>
                  <a:srgbClr val="0070C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0070C0"/>
                </a:solidFill>
                <a:latin typeface="맑은 고딕"/>
                <a:ea typeface="맑은 고딕"/>
                <a:cs typeface="맑은 고딕"/>
              </a:rPr>
              <a:t>플랫폼</a:t>
            </a:r>
            <a:endParaRPr sz="2000" b="1" dirty="0">
              <a:solidFill>
                <a:srgbClr val="0070C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A1CEA182-9D7C-4458-B4D4-59E0839F4C01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176316-E9C7-D133-E786-0587688D1F42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en-US" sz="2600" b="1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FirstRoad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F22E3D4-BA2B-B8E2-C134-92908AD0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26" y="2732978"/>
            <a:ext cx="8468907" cy="249589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FFDAFEAA-4841-2BD5-5655-58C4878B0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E04279-98AA-532B-B69F-536530369917}"/>
              </a:ext>
            </a:extLst>
          </p:cNvPr>
          <p:cNvSpPr/>
          <p:nvPr/>
        </p:nvSpPr>
        <p:spPr>
          <a:xfrm>
            <a:off x="502920" y="6264741"/>
            <a:ext cx="11186160" cy="502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0F2C2C02-5896-EE39-027E-15CC8873F1EB}"/>
              </a:ext>
            </a:extLst>
          </p:cNvPr>
          <p:cNvSpPr/>
          <p:nvPr/>
        </p:nvSpPr>
        <p:spPr>
          <a:xfrm>
            <a:off x="9137490" y="2451292"/>
            <a:ext cx="1573817" cy="1697225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D6CC3B9-AAE5-7B71-8123-C8E17432E3F7}"/>
              </a:ext>
            </a:extLst>
          </p:cNvPr>
          <p:cNvSpPr/>
          <p:nvPr/>
        </p:nvSpPr>
        <p:spPr>
          <a:xfrm>
            <a:off x="7083280" y="2412974"/>
            <a:ext cx="1573817" cy="1697225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EFFB8DE-6FCD-BF51-7294-3872052EE09F}"/>
              </a:ext>
            </a:extLst>
          </p:cNvPr>
          <p:cNvSpPr/>
          <p:nvPr/>
        </p:nvSpPr>
        <p:spPr>
          <a:xfrm>
            <a:off x="5089994" y="2491824"/>
            <a:ext cx="1573817" cy="169722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E72C5E2-E75F-0535-44E0-F9A4A2E15305}"/>
              </a:ext>
            </a:extLst>
          </p:cNvPr>
          <p:cNvSpPr/>
          <p:nvPr/>
        </p:nvSpPr>
        <p:spPr>
          <a:xfrm>
            <a:off x="3098892" y="2480150"/>
            <a:ext cx="1573817" cy="1697225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47474BB-4EE5-384D-852D-F4D2134A5CEB}"/>
              </a:ext>
            </a:extLst>
          </p:cNvPr>
          <p:cNvSpPr/>
          <p:nvPr/>
        </p:nvSpPr>
        <p:spPr>
          <a:xfrm>
            <a:off x="1170709" y="2437249"/>
            <a:ext cx="1573817" cy="1697225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F94679-79AE-B2E0-613E-75403F0CCC20}"/>
              </a:ext>
            </a:extLst>
          </p:cNvPr>
          <p:cNvSpPr txBox="1"/>
          <p:nvPr/>
        </p:nvSpPr>
        <p:spPr>
          <a:xfrm>
            <a:off x="1256848" y="4196493"/>
            <a:ext cx="1224553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>김기현</a:t>
            </a:r>
            <a:endParaRPr sz="24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8F08DC-005C-88E5-21EF-746B15159962}"/>
              </a:ext>
            </a:extLst>
          </p:cNvPr>
          <p:cNvSpPr txBox="1"/>
          <p:nvPr/>
        </p:nvSpPr>
        <p:spPr>
          <a:xfrm>
            <a:off x="3186722" y="4233785"/>
            <a:ext cx="1224553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2400" dirty="0" err="1">
                <a:latin typeface="맑은 고딕"/>
                <a:ea typeface="맑은 고딕"/>
                <a:cs typeface="맑은 고딕"/>
              </a:rPr>
              <a:t>김우근</a:t>
            </a:r>
            <a:endParaRPr sz="24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8D139-7679-7797-903B-44E8C563CECF}"/>
              </a:ext>
            </a:extLst>
          </p:cNvPr>
          <p:cNvSpPr txBox="1"/>
          <p:nvPr/>
        </p:nvSpPr>
        <p:spPr>
          <a:xfrm>
            <a:off x="7322804" y="4210134"/>
            <a:ext cx="1224553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>최현민</a:t>
            </a:r>
            <a:endParaRPr sz="24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95F450-8BC5-DE89-EF23-BE6175E92B8C}"/>
              </a:ext>
            </a:extLst>
          </p:cNvPr>
          <p:cNvSpPr txBox="1"/>
          <p:nvPr/>
        </p:nvSpPr>
        <p:spPr>
          <a:xfrm>
            <a:off x="5223459" y="4298148"/>
            <a:ext cx="1224553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>서준원</a:t>
            </a:r>
            <a:endParaRPr sz="24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E109F9-1A3E-86C1-33F0-39083F0540CE}"/>
              </a:ext>
            </a:extLst>
          </p:cNvPr>
          <p:cNvSpPr txBox="1"/>
          <p:nvPr/>
        </p:nvSpPr>
        <p:spPr>
          <a:xfrm>
            <a:off x="9285037" y="4243573"/>
            <a:ext cx="1224553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2400" b="0" dirty="0" err="1">
                <a:latin typeface="맑은 고딕"/>
                <a:ea typeface="맑은 고딕"/>
                <a:cs typeface="맑은 고딕"/>
              </a:rPr>
              <a:t>하승준</a:t>
            </a:r>
            <a:endParaRPr sz="24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FE7ED8-CDDF-40BB-0522-77DEEF75739E}"/>
              </a:ext>
            </a:extLst>
          </p:cNvPr>
          <p:cNvSpPr txBox="1"/>
          <p:nvPr/>
        </p:nvSpPr>
        <p:spPr>
          <a:xfrm>
            <a:off x="1174399" y="4818294"/>
            <a:ext cx="1224553" cy="224677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en-US" sz="1100" b="0" dirty="0">
                <a:latin typeface="맑은 고딕"/>
                <a:ea typeface="맑은 고딕"/>
                <a:cs typeface="맑은 고딕"/>
              </a:rPr>
              <a:t>UI/</a:t>
            </a:r>
            <a:r>
              <a:rPr lang="en-US" sz="1100" dirty="0">
                <a:latin typeface="맑은 고딕"/>
                <a:ea typeface="맑은 고딕"/>
                <a:cs typeface="맑은 고딕"/>
              </a:rPr>
              <a:t>UX</a:t>
            </a:r>
            <a:endParaRPr sz="11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D14791-B534-0D9D-9464-D43C824499E2}"/>
              </a:ext>
            </a:extLst>
          </p:cNvPr>
          <p:cNvSpPr txBox="1"/>
          <p:nvPr/>
        </p:nvSpPr>
        <p:spPr>
          <a:xfrm>
            <a:off x="5218374" y="4925044"/>
            <a:ext cx="1224553" cy="224677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1100" b="0" dirty="0">
                <a:latin typeface="맑은 고딕"/>
                <a:ea typeface="맑은 고딕"/>
                <a:cs typeface="맑은 고딕"/>
              </a:rPr>
              <a:t>메인 개발</a:t>
            </a:r>
            <a:endParaRPr sz="11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72E501-0847-3D9D-E828-DD163F0A4DB7}"/>
              </a:ext>
            </a:extLst>
          </p:cNvPr>
          <p:cNvSpPr txBox="1"/>
          <p:nvPr/>
        </p:nvSpPr>
        <p:spPr>
          <a:xfrm>
            <a:off x="9359560" y="4776321"/>
            <a:ext cx="1224553" cy="39395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ko-KR" altLang="en-US" sz="1100" b="0" dirty="0">
                <a:latin typeface="맑은 고딕"/>
                <a:ea typeface="맑은 고딕"/>
                <a:cs typeface="맑은 고딕"/>
              </a:rPr>
              <a:t>메인 개발</a:t>
            </a:r>
            <a:endParaRPr lang="en-US" altLang="ko-KR" sz="1100" b="0" dirty="0">
              <a:latin typeface="맑은 고딕"/>
              <a:ea typeface="맑은 고딕"/>
              <a:cs typeface="맑은 고딕"/>
            </a:endParaRPr>
          </a:p>
          <a:p>
            <a:pPr algn="ctr"/>
            <a:r>
              <a:rPr lang="en-US" altLang="ko-KR" sz="1100" dirty="0"/>
              <a:t>Infrastructure</a:t>
            </a:r>
            <a:endParaRPr lang="en-US" altLang="ko-KR" sz="1100" dirty="0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ED44D1B-0B3A-5405-B0CE-DB8B6C670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3643" y="2112965"/>
            <a:ext cx="2021509" cy="202150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9A816C7C-7D36-7E0A-2DCD-783E3429B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859" y="2241604"/>
            <a:ext cx="1871917" cy="187191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B780FA1-5F45-9F23-00CF-6DF959DC2B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104" y="2241604"/>
            <a:ext cx="1920829" cy="1920829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6C2386D-037C-DFB6-96CF-BF23D72B5B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493" y="2241604"/>
            <a:ext cx="1864248" cy="186424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F6B9CBF2-B9F5-3998-2821-24F420715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445" y="2296546"/>
            <a:ext cx="1765273" cy="176527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1EEBD5D5-405B-633B-4E10-F37C1B3F0627}"/>
              </a:ext>
            </a:extLst>
          </p:cNvPr>
          <p:cNvSpPr txBox="1"/>
          <p:nvPr/>
        </p:nvSpPr>
        <p:spPr>
          <a:xfrm>
            <a:off x="3177015" y="4770057"/>
            <a:ext cx="1224553" cy="39395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en-US" sz="1100" dirty="0">
                <a:latin typeface="맑은 고딕"/>
                <a:ea typeface="맑은 고딕"/>
                <a:cs typeface="맑은 고딕"/>
              </a:rPr>
              <a:t>Review </a:t>
            </a:r>
            <a:r>
              <a:rPr lang="ko-KR" altLang="en-US" sz="1100" dirty="0">
                <a:latin typeface="맑은 고딕"/>
                <a:ea typeface="맑은 고딕"/>
                <a:cs typeface="맑은 고딕"/>
              </a:rPr>
              <a:t>기능</a:t>
            </a:r>
            <a:endParaRPr lang="en-US" sz="1100" dirty="0">
              <a:latin typeface="맑은 고딕"/>
              <a:ea typeface="맑은 고딕"/>
              <a:cs typeface="맑은 고딕"/>
            </a:endParaRPr>
          </a:p>
          <a:p>
            <a:pPr algn="ctr"/>
            <a:r>
              <a:rPr lang="ko-KR" altLang="ko-KR" sz="1100" dirty="0" err="1"/>
              <a:t>Infrastructure</a:t>
            </a:r>
            <a:endParaRPr sz="11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E1382F-F522-59EE-D045-55BF207022FB}"/>
              </a:ext>
            </a:extLst>
          </p:cNvPr>
          <p:cNvSpPr txBox="1"/>
          <p:nvPr/>
        </p:nvSpPr>
        <p:spPr>
          <a:xfrm>
            <a:off x="7312943" y="4753500"/>
            <a:ext cx="1224553" cy="39395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en-US" sz="1100" b="0" dirty="0">
                <a:latin typeface="맑은 고딕"/>
                <a:ea typeface="맑은 고딕"/>
                <a:cs typeface="맑은 고딕"/>
              </a:rPr>
              <a:t>AI </a:t>
            </a:r>
            <a:r>
              <a:rPr lang="ko-KR" altLang="en-US" sz="1100" b="0" dirty="0" err="1">
                <a:latin typeface="맑은 고딕"/>
                <a:ea typeface="맑은 고딕"/>
                <a:cs typeface="맑은 고딕"/>
              </a:rPr>
              <a:t>챗봇</a:t>
            </a:r>
            <a:endParaRPr lang="en-US" altLang="ko-KR" sz="1100" b="0" dirty="0">
              <a:latin typeface="맑은 고딕"/>
              <a:ea typeface="맑은 고딕"/>
              <a:cs typeface="맑은 고딕"/>
            </a:endParaRPr>
          </a:p>
          <a:p>
            <a:pPr algn="ctr"/>
            <a:r>
              <a:rPr lang="ko-KR" altLang="en-US" sz="1100" dirty="0">
                <a:latin typeface="맑은 고딕"/>
                <a:ea typeface="맑은 고딕"/>
                <a:cs typeface="맑은 고딕"/>
              </a:rPr>
              <a:t>서브 개발</a:t>
            </a:r>
            <a:endParaRPr sz="1100" b="0" dirty="0"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CBB2318E-C5CE-73AC-1ED7-9F6EA4AF63AD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170CE7-38BF-A40F-0257-4CF56A94E227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팀소개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2E8BB9C6-4903-96E2-23E8-16537A7BD7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683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9">
            <a:extLst>
              <a:ext uri="{FF2B5EF4-FFF2-40B4-BE49-F238E27FC236}">
                <a16:creationId xmlns:a16="http://schemas.microsoft.com/office/drawing/2014/main" id="{75B09185-7F0B-78FE-251B-34893666D09E}"/>
              </a:ext>
            </a:extLst>
          </p:cNvPr>
          <p:cNvSpPr/>
          <p:nvPr/>
        </p:nvSpPr>
        <p:spPr>
          <a:xfrm>
            <a:off x="2941320" y="2371183"/>
            <a:ext cx="5922784" cy="2767360"/>
          </a:xfrm>
          <a:prstGeom prst="roundRect">
            <a:avLst>
              <a:gd name="adj" fmla="val 6000"/>
            </a:avLst>
          </a:prstGeom>
          <a:solidFill>
            <a:srgbClr val="ECFDF7"/>
          </a:solidFill>
          <a:ln w="19050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78E79E1-C701-7FD0-F7A0-48B070FDBCA1}"/>
              </a:ext>
            </a:extLst>
          </p:cNvPr>
          <p:cNvSpPr/>
          <p:nvPr/>
        </p:nvSpPr>
        <p:spPr>
          <a:xfrm>
            <a:off x="5087112" y="2600701"/>
            <a:ext cx="45719" cy="2308324"/>
          </a:xfrm>
          <a:prstGeom prst="rect">
            <a:avLst/>
          </a:prstGeom>
          <a:solidFill>
            <a:srgbClr val="99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45DE04C-6DCB-8206-C28E-8B74D86E0B39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838ACD-3F58-5664-0F7B-1D08679F4987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프로젝트 소개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E0B816-8666-5B6C-281B-58D4CB7F0399}"/>
              </a:ext>
            </a:extLst>
          </p:cNvPr>
          <p:cNvSpPr txBox="1"/>
          <p:nvPr/>
        </p:nvSpPr>
        <p:spPr>
          <a:xfrm>
            <a:off x="3557504" y="2595020"/>
            <a:ext cx="63362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		</a:t>
            </a:r>
            <a:r>
              <a:rPr lang="en-US" altLang="ko-KR" dirty="0" err="1"/>
              <a:t>FirstRoad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개발기간 </a:t>
            </a:r>
            <a:r>
              <a:rPr lang="en-US" altLang="ko-KR" dirty="0"/>
              <a:t>		2026.4 ~ 2026.5 (</a:t>
            </a:r>
            <a:r>
              <a:rPr lang="ko-KR" altLang="en-US" dirty="0"/>
              <a:t>약 </a:t>
            </a:r>
            <a:r>
              <a:rPr lang="en-US" altLang="ko-KR" dirty="0"/>
              <a:t>2</a:t>
            </a:r>
            <a:r>
              <a:rPr lang="ko-KR" altLang="en-US" dirty="0"/>
              <a:t>달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인원 </a:t>
            </a:r>
            <a:r>
              <a:rPr lang="en-US" altLang="ko-KR" dirty="0"/>
              <a:t>			 5</a:t>
            </a:r>
            <a:r>
              <a:rPr lang="ko-KR" altLang="en-US" dirty="0"/>
              <a:t>명</a:t>
            </a:r>
            <a:r>
              <a:rPr lang="en-US" altLang="ko-KR" dirty="0"/>
              <a:t>(</a:t>
            </a:r>
            <a:r>
              <a:rPr lang="en-US" altLang="ko-KR" dirty="0" err="1"/>
              <a:t>FullStack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기술 스택 </a:t>
            </a:r>
            <a:r>
              <a:rPr lang="en-US" altLang="ko-KR" dirty="0"/>
              <a:t>		Java 21, React 19, Spring Boot3.5 ,</a:t>
            </a:r>
          </a:p>
          <a:p>
            <a:r>
              <a:rPr lang="en-US" altLang="ko-KR" dirty="0"/>
              <a:t>				JWT, OAuth2, MariaDB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6254AA2-B8B0-DB4F-92B6-E944EEE99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76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51772F2-206D-4F92-EC8E-6506057F6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239" y="1151172"/>
            <a:ext cx="8779522" cy="53722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C391A6-DCBB-8547-6E41-2BA6C8E97260}"/>
              </a:ext>
            </a:extLst>
          </p:cNvPr>
          <p:cNvSpPr txBox="1"/>
          <p:nvPr/>
        </p:nvSpPr>
        <p:spPr>
          <a:xfrm>
            <a:off x="88900" y="6362580"/>
            <a:ext cx="113093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https://www.mordorintelligence.kr/industry-reports/freight-forwarding-market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ko-KR" b="1" dirty="0" err="1"/>
              <a:t>모르도르</a:t>
            </a:r>
            <a:r>
              <a:rPr lang="ko-KR" altLang="ko-KR" b="1" dirty="0"/>
              <a:t> </a:t>
            </a:r>
            <a:r>
              <a:rPr lang="ko-KR" altLang="ko-KR" b="1" dirty="0" err="1"/>
              <a:t>인텔리전스</a:t>
            </a:r>
            <a:r>
              <a:rPr lang="ko-KR" altLang="ko-KR" b="1" dirty="0"/>
              <a:t>(</a:t>
            </a:r>
            <a:r>
              <a:rPr lang="ko-KR" altLang="ko-KR" b="1" dirty="0" err="1"/>
              <a:t>Mordor</a:t>
            </a:r>
            <a:r>
              <a:rPr lang="ko-KR" altLang="ko-KR" b="1" dirty="0"/>
              <a:t> </a:t>
            </a:r>
            <a:r>
              <a:rPr lang="ko-KR" altLang="ko-KR" b="1" dirty="0" err="1"/>
              <a:t>Intelligence</a:t>
            </a:r>
            <a:r>
              <a:rPr lang="ko-KR" altLang="ko-KR" b="1" dirty="0"/>
              <a:t>)</a:t>
            </a:r>
            <a:r>
              <a:rPr lang="en-US" altLang="ko-KR" b="1" dirty="0"/>
              <a:t> : </a:t>
            </a:r>
            <a:r>
              <a:rPr lang="ko-KR" altLang="ko-KR" dirty="0"/>
              <a:t> 2014년에 인도에서 설립된 글로벌 시장 조사 및 컨설팅 회사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95E62-9F1B-0253-E9D2-E3E2CFE691A4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개발 이유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6A05012-DB08-FCC7-063B-013CC1BF6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3E9F4605-5011-F1D5-951D-F8490EF379D9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40B09D-0412-4173-C8C4-3ECFE4132A63}"/>
              </a:ext>
            </a:extLst>
          </p:cNvPr>
          <p:cNvSpPr txBox="1"/>
          <p:nvPr/>
        </p:nvSpPr>
        <p:spPr>
          <a:xfrm>
            <a:off x="5980749" y="5291329"/>
            <a:ext cx="3586887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/>
              <a:t>화물 운송</a:t>
            </a:r>
            <a:r>
              <a:rPr lang="en-US" altLang="ko-KR" sz="2400" dirty="0"/>
              <a:t>, </a:t>
            </a:r>
          </a:p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81.</a:t>
            </a:r>
            <a:r>
              <a:rPr lang="ko-KR" altLang="en-US" sz="2400" dirty="0">
                <a:solidFill>
                  <a:srgbClr val="FF0000"/>
                </a:solidFill>
              </a:rPr>
              <a:t>４</a:t>
            </a:r>
            <a:r>
              <a:rPr lang="en-US" altLang="ko-KR" sz="2400" dirty="0">
                <a:solidFill>
                  <a:srgbClr val="FF0000"/>
                </a:solidFill>
              </a:rPr>
              <a:t>%</a:t>
            </a:r>
            <a:r>
              <a:rPr lang="en-US" altLang="ko-KR" sz="2400" dirty="0"/>
              <a:t> </a:t>
            </a:r>
            <a:r>
              <a:rPr lang="ko-KR" altLang="en-US" sz="2400" dirty="0"/>
              <a:t>아날로그에 의존</a:t>
            </a:r>
          </a:p>
        </p:txBody>
      </p:sp>
    </p:spTree>
    <p:extLst>
      <p:ext uri="{BB962C8B-B14F-4D97-AF65-F5344CB8AC3E}">
        <p14:creationId xmlns:p14="http://schemas.microsoft.com/office/powerpoint/2010/main" val="3304323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CAEF046-EDBA-FF8E-28C2-104A12D07D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56441"/>
              </p:ext>
            </p:extLst>
          </p:nvPr>
        </p:nvGraphicFramePr>
        <p:xfrm>
          <a:off x="638499" y="1795592"/>
          <a:ext cx="10915001" cy="42210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25336">
                  <a:extLst>
                    <a:ext uri="{9D8B030D-6E8A-4147-A177-3AD203B41FA5}">
                      <a16:colId xmlns:a16="http://schemas.microsoft.com/office/drawing/2014/main" val="2260553544"/>
                    </a:ext>
                  </a:extLst>
                </a:gridCol>
                <a:gridCol w="991361">
                  <a:extLst>
                    <a:ext uri="{9D8B030D-6E8A-4147-A177-3AD203B41FA5}">
                      <a16:colId xmlns:a16="http://schemas.microsoft.com/office/drawing/2014/main" val="4037314900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3063662165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2756307822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3700018572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2791912425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3324518882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2067810937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1455452000"/>
                    </a:ext>
                  </a:extLst>
                </a:gridCol>
                <a:gridCol w="1037288">
                  <a:extLst>
                    <a:ext uri="{9D8B030D-6E8A-4147-A177-3AD203B41FA5}">
                      <a16:colId xmlns:a16="http://schemas.microsoft.com/office/drawing/2014/main" val="2616009452"/>
                    </a:ext>
                  </a:extLst>
                </a:gridCol>
              </a:tblGrid>
              <a:tr h="425307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</a:t>
                      </a:r>
                      <a:r>
                        <a:rPr lang="ko-KR" altLang="en-US" sz="1400" dirty="0"/>
                        <a:t>주차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3801366"/>
                  </a:ext>
                </a:extLst>
              </a:tr>
              <a:tr h="4608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기획</a:t>
                      </a:r>
                      <a:endParaRPr lang="en-US" altLang="ko-KR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9500264"/>
                  </a:ext>
                </a:extLst>
              </a:tr>
              <a:tr h="4123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설계</a:t>
                      </a:r>
                      <a:endParaRPr lang="en-US" altLang="ko-KR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391229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핵심 기능개발</a:t>
                      </a:r>
                      <a:endParaRPr lang="en-US" altLang="ko-KR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3101086"/>
                  </a:ext>
                </a:extLst>
              </a:tr>
              <a:tr h="323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r>
                        <a:rPr lang="ko-KR" altLang="en-US" sz="1400" dirty="0"/>
                        <a:t>차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배포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</a:t>
                      </a:r>
                      <a:r>
                        <a:rPr lang="en-US" altLang="ko-KR" sz="1400" dirty="0" err="1"/>
                        <a:t>vercel</a:t>
                      </a:r>
                      <a:r>
                        <a:rPr lang="en-US" altLang="ko-KR" sz="1400" dirty="0"/>
                        <a:t>, render)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08746588"/>
                  </a:ext>
                </a:extLst>
              </a:tr>
              <a:tr h="4769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977520"/>
                  </a:ext>
                </a:extLst>
              </a:tr>
              <a:tr h="323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r>
                        <a:rPr lang="ko-KR" altLang="en-US" sz="1400" dirty="0"/>
                        <a:t>차 배포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(AWS)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9538730"/>
                  </a:ext>
                </a:extLst>
              </a:tr>
              <a:tr h="4769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반응형</a:t>
                      </a:r>
                      <a:endParaRPr lang="en-US" altLang="ko-KR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381977"/>
                  </a:ext>
                </a:extLst>
              </a:tr>
              <a:tr h="4751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발표</a:t>
                      </a:r>
                      <a:endParaRPr lang="en-US" altLang="ko-KR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71079"/>
                  </a:ext>
                </a:extLst>
              </a:tr>
            </a:tbl>
          </a:graphicData>
        </a:graphic>
      </p:graphicFrame>
      <p:sp>
        <p:nvSpPr>
          <p:cNvPr id="5" name="Rectangle 3">
            <a:extLst>
              <a:ext uri="{FF2B5EF4-FFF2-40B4-BE49-F238E27FC236}">
                <a16:creationId xmlns:a16="http://schemas.microsoft.com/office/drawing/2014/main" id="{D040AFA0-BF62-1625-A9FE-C808817BDCA9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3DFAE-2F06-6549-63B2-5CECC07AF852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WBS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FCE27D7-F6DA-810E-6DE1-07F96E64F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B0F8B7-9E45-C149-8579-27F09EECDCD5}"/>
              </a:ext>
            </a:extLst>
          </p:cNvPr>
          <p:cNvSpPr txBox="1"/>
          <p:nvPr/>
        </p:nvSpPr>
        <p:spPr>
          <a:xfrm>
            <a:off x="548640" y="1295400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2026.04 ~ 2026.05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7354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5">
            <a:extLst>
              <a:ext uri="{FF2B5EF4-FFF2-40B4-BE49-F238E27FC236}">
                <a16:creationId xmlns:a16="http://schemas.microsoft.com/office/drawing/2014/main" id="{7601B640-1737-C3D1-FE3E-6ECFC067905B}"/>
              </a:ext>
            </a:extLst>
          </p:cNvPr>
          <p:cNvSpPr/>
          <p:nvPr/>
        </p:nvSpPr>
        <p:spPr>
          <a:xfrm>
            <a:off x="5376677" y="4514556"/>
            <a:ext cx="1579610" cy="5903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5">
            <a:extLst>
              <a:ext uri="{FF2B5EF4-FFF2-40B4-BE49-F238E27FC236}">
                <a16:creationId xmlns:a16="http://schemas.microsoft.com/office/drawing/2014/main" id="{C8AF46E0-CFE6-F258-07CA-A1DE9CCBC20D}"/>
              </a:ext>
            </a:extLst>
          </p:cNvPr>
          <p:cNvSpPr/>
          <p:nvPr/>
        </p:nvSpPr>
        <p:spPr>
          <a:xfrm>
            <a:off x="9984785" y="2989900"/>
            <a:ext cx="1782601" cy="706923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5">
            <a:extLst>
              <a:ext uri="{FF2B5EF4-FFF2-40B4-BE49-F238E27FC236}">
                <a16:creationId xmlns:a16="http://schemas.microsoft.com/office/drawing/2014/main" id="{AC7856C8-DE1D-0100-85C7-DBE4675F6B50}"/>
              </a:ext>
            </a:extLst>
          </p:cNvPr>
          <p:cNvSpPr/>
          <p:nvPr/>
        </p:nvSpPr>
        <p:spPr>
          <a:xfrm>
            <a:off x="2827609" y="4802560"/>
            <a:ext cx="1428739" cy="706923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5">
            <a:extLst>
              <a:ext uri="{FF2B5EF4-FFF2-40B4-BE49-F238E27FC236}">
                <a16:creationId xmlns:a16="http://schemas.microsoft.com/office/drawing/2014/main" id="{CCB9B522-F83A-7EE4-2CBD-C070256E8711}"/>
              </a:ext>
            </a:extLst>
          </p:cNvPr>
          <p:cNvSpPr/>
          <p:nvPr/>
        </p:nvSpPr>
        <p:spPr>
          <a:xfrm>
            <a:off x="696370" y="4731086"/>
            <a:ext cx="1782601" cy="1423347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5">
            <a:extLst>
              <a:ext uri="{FF2B5EF4-FFF2-40B4-BE49-F238E27FC236}">
                <a16:creationId xmlns:a16="http://schemas.microsoft.com/office/drawing/2014/main" id="{0844DC42-D715-5095-8BCE-35752FA9121E}"/>
              </a:ext>
            </a:extLst>
          </p:cNvPr>
          <p:cNvSpPr/>
          <p:nvPr/>
        </p:nvSpPr>
        <p:spPr>
          <a:xfrm>
            <a:off x="5254773" y="1637513"/>
            <a:ext cx="1782601" cy="706923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5">
            <a:extLst>
              <a:ext uri="{FF2B5EF4-FFF2-40B4-BE49-F238E27FC236}">
                <a16:creationId xmlns:a16="http://schemas.microsoft.com/office/drawing/2014/main" id="{ED4C9188-8F82-EE13-CEAD-BACD62A95225}"/>
              </a:ext>
            </a:extLst>
          </p:cNvPr>
          <p:cNvSpPr/>
          <p:nvPr/>
        </p:nvSpPr>
        <p:spPr>
          <a:xfrm>
            <a:off x="10165119" y="4528258"/>
            <a:ext cx="1579610" cy="5903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5">
            <a:extLst>
              <a:ext uri="{FF2B5EF4-FFF2-40B4-BE49-F238E27FC236}">
                <a16:creationId xmlns:a16="http://schemas.microsoft.com/office/drawing/2014/main" id="{A18EC302-209F-5171-8B9F-D798B033D2B4}"/>
              </a:ext>
            </a:extLst>
          </p:cNvPr>
          <p:cNvSpPr/>
          <p:nvPr/>
        </p:nvSpPr>
        <p:spPr>
          <a:xfrm>
            <a:off x="5361696" y="2989900"/>
            <a:ext cx="1579610" cy="666236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2" name="Rounded Rectangle 5">
            <a:extLst>
              <a:ext uri="{FF2B5EF4-FFF2-40B4-BE49-F238E27FC236}">
                <a16:creationId xmlns:a16="http://schemas.microsoft.com/office/drawing/2014/main" id="{078162FB-9FE1-63C3-8A98-C2CF20E9340E}"/>
              </a:ext>
            </a:extLst>
          </p:cNvPr>
          <p:cNvSpPr/>
          <p:nvPr/>
        </p:nvSpPr>
        <p:spPr>
          <a:xfrm>
            <a:off x="2849542" y="2992934"/>
            <a:ext cx="1600073" cy="610019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5">
            <a:extLst>
              <a:ext uri="{FF2B5EF4-FFF2-40B4-BE49-F238E27FC236}">
                <a16:creationId xmlns:a16="http://schemas.microsoft.com/office/drawing/2014/main" id="{A5A53CC2-87B2-2553-6D98-8BE7E7DED099}"/>
              </a:ext>
            </a:extLst>
          </p:cNvPr>
          <p:cNvSpPr/>
          <p:nvPr/>
        </p:nvSpPr>
        <p:spPr>
          <a:xfrm>
            <a:off x="577479" y="2991827"/>
            <a:ext cx="1371601" cy="56335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698DF9-F619-6902-B3BF-5671F730152F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아키텍처 파이프라인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5A28202-9A14-4C96-EEDC-069B324B143D}"/>
              </a:ext>
            </a:extLst>
          </p:cNvPr>
          <p:cNvSpPr/>
          <p:nvPr/>
        </p:nvSpPr>
        <p:spPr>
          <a:xfrm>
            <a:off x="498504" y="987834"/>
            <a:ext cx="1371600" cy="50292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DECCF4F-4E2C-1234-845E-32E6BA5F9C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pic>
        <p:nvPicPr>
          <p:cNvPr id="11" name="Picture 15">
            <a:extLst>
              <a:ext uri="{FF2B5EF4-FFF2-40B4-BE49-F238E27FC236}">
                <a16:creationId xmlns:a16="http://schemas.microsoft.com/office/drawing/2014/main" id="{07BA23A9-172E-D52E-6FB8-B6CFAAE68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979368" y="3170909"/>
            <a:ext cx="854970" cy="2051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6099F2D-5D4C-A4A6-16A9-73E02307023B}"/>
              </a:ext>
            </a:extLst>
          </p:cNvPr>
          <p:cNvSpPr txBox="1"/>
          <p:nvPr/>
        </p:nvSpPr>
        <p:spPr>
          <a:xfrm>
            <a:off x="424614" y="3059668"/>
            <a:ext cx="1547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React SPA</a:t>
            </a:r>
            <a:endParaRPr lang="ko-KR" alt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B0BDBC5-BECA-F63A-8F6D-4A2706466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4449615" y="3194031"/>
            <a:ext cx="952500" cy="228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78E2F3D-217E-9BB0-196B-52349D86A9C9}"/>
              </a:ext>
            </a:extLst>
          </p:cNvPr>
          <p:cNvSpPr txBox="1"/>
          <p:nvPr/>
        </p:nvSpPr>
        <p:spPr>
          <a:xfrm>
            <a:off x="2667359" y="2943077"/>
            <a:ext cx="1805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Spring Security</a:t>
            </a:r>
          </a:p>
          <a:p>
            <a:pPr algn="ctr"/>
            <a:r>
              <a:rPr lang="ko-KR" altLang="en-US" dirty="0"/>
              <a:t>필터체인</a:t>
            </a:r>
          </a:p>
        </p:txBody>
      </p:sp>
      <p:pic>
        <p:nvPicPr>
          <p:cNvPr id="22" name="Picture 15">
            <a:extLst>
              <a:ext uri="{FF2B5EF4-FFF2-40B4-BE49-F238E27FC236}">
                <a16:creationId xmlns:a16="http://schemas.microsoft.com/office/drawing/2014/main" id="{B7995586-8D1C-E07B-F8F8-1F31C418E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6970800" y="4713496"/>
            <a:ext cx="952500" cy="2286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5DA940-93D3-B92D-D61E-D8B2929AD426}"/>
              </a:ext>
            </a:extLst>
          </p:cNvPr>
          <p:cNvSpPr txBox="1"/>
          <p:nvPr/>
        </p:nvSpPr>
        <p:spPr>
          <a:xfrm>
            <a:off x="5254774" y="3143659"/>
            <a:ext cx="1782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Controller</a:t>
            </a:r>
            <a:endParaRPr lang="ko-KR" altLang="en-US" dirty="0"/>
          </a:p>
        </p:txBody>
      </p:sp>
      <p:pic>
        <p:nvPicPr>
          <p:cNvPr id="30" name="Picture 15">
            <a:extLst>
              <a:ext uri="{FF2B5EF4-FFF2-40B4-BE49-F238E27FC236}">
                <a16:creationId xmlns:a16="http://schemas.microsoft.com/office/drawing/2014/main" id="{800A8420-0560-9E75-3BA4-362D64CC9D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 flipV="1">
            <a:off x="5755811" y="3978860"/>
            <a:ext cx="821343" cy="19712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9EFFDE4-B916-EC7E-214B-836CF11DED00}"/>
              </a:ext>
            </a:extLst>
          </p:cNvPr>
          <p:cNvSpPr txBox="1"/>
          <p:nvPr/>
        </p:nvSpPr>
        <p:spPr>
          <a:xfrm>
            <a:off x="5376677" y="4596062"/>
            <a:ext cx="1579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Service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45AFAA-6F6C-EDBF-19A3-9503F9B2FC34}"/>
              </a:ext>
            </a:extLst>
          </p:cNvPr>
          <p:cNvSpPr txBox="1"/>
          <p:nvPr/>
        </p:nvSpPr>
        <p:spPr>
          <a:xfrm>
            <a:off x="9809047" y="3158696"/>
            <a:ext cx="2011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MariaDB</a:t>
            </a:r>
            <a:endParaRPr lang="ko-KR" altLang="en-US" dirty="0"/>
          </a:p>
        </p:txBody>
      </p:sp>
      <p:pic>
        <p:nvPicPr>
          <p:cNvPr id="42" name="Picture 15">
            <a:extLst>
              <a:ext uri="{FF2B5EF4-FFF2-40B4-BE49-F238E27FC236}">
                <a16:creationId xmlns:a16="http://schemas.microsoft.com/office/drawing/2014/main" id="{8E45A742-B3B0-9671-611A-0C97BB10F1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 flipV="1">
            <a:off x="9417511" y="4752703"/>
            <a:ext cx="686609" cy="16478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0A24B0D2-CA32-1DD3-F416-C324D0FF9AA9}"/>
              </a:ext>
            </a:extLst>
          </p:cNvPr>
          <p:cNvSpPr txBox="1"/>
          <p:nvPr/>
        </p:nvSpPr>
        <p:spPr>
          <a:xfrm>
            <a:off x="5090161" y="1795634"/>
            <a:ext cx="2011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DTO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C8F3FD-19E0-90FE-5598-F48EFF1545D5}"/>
              </a:ext>
            </a:extLst>
          </p:cNvPr>
          <p:cNvSpPr txBox="1"/>
          <p:nvPr/>
        </p:nvSpPr>
        <p:spPr>
          <a:xfrm>
            <a:off x="578273" y="4358005"/>
            <a:ext cx="1354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 연동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BA61D2-1929-CA3B-95F9-7195173C0BBD}"/>
              </a:ext>
            </a:extLst>
          </p:cNvPr>
          <p:cNvSpPr txBox="1"/>
          <p:nvPr/>
        </p:nvSpPr>
        <p:spPr>
          <a:xfrm>
            <a:off x="645459" y="4835075"/>
            <a:ext cx="178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PortOne</a:t>
            </a:r>
            <a:endParaRPr lang="en-US" altLang="ko-KR" dirty="0"/>
          </a:p>
          <a:p>
            <a:r>
              <a:rPr lang="ko-KR" altLang="en-US" dirty="0"/>
              <a:t>카카오지도</a:t>
            </a:r>
            <a:endParaRPr lang="en-US" altLang="ko-KR" dirty="0"/>
          </a:p>
          <a:p>
            <a:r>
              <a:rPr lang="en-US" altLang="ko-KR" dirty="0"/>
              <a:t>SMTP</a:t>
            </a:r>
          </a:p>
          <a:p>
            <a:r>
              <a:rPr lang="en-US" altLang="ko-KR" dirty="0"/>
              <a:t>Gemini</a:t>
            </a:r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E1D1BA-0B78-5135-A9B0-50CF916DF7B7}"/>
              </a:ext>
            </a:extLst>
          </p:cNvPr>
          <p:cNvSpPr txBox="1"/>
          <p:nvPr/>
        </p:nvSpPr>
        <p:spPr>
          <a:xfrm>
            <a:off x="2798344" y="4383371"/>
            <a:ext cx="1458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인증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B3FE41-3E51-068C-F55C-A636E954544F}"/>
              </a:ext>
            </a:extLst>
          </p:cNvPr>
          <p:cNvSpPr txBox="1"/>
          <p:nvPr/>
        </p:nvSpPr>
        <p:spPr>
          <a:xfrm>
            <a:off x="2802685" y="4840516"/>
            <a:ext cx="1453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JWT</a:t>
            </a:r>
          </a:p>
          <a:p>
            <a:r>
              <a:rPr lang="en-US" altLang="ko-KR" dirty="0"/>
              <a:t>OAuth2</a:t>
            </a:r>
            <a:endParaRPr lang="ko-KR" alt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F5B149F-A333-4F17-7237-08CA2C71CCDB}"/>
              </a:ext>
            </a:extLst>
          </p:cNvPr>
          <p:cNvSpPr txBox="1"/>
          <p:nvPr/>
        </p:nvSpPr>
        <p:spPr>
          <a:xfrm>
            <a:off x="10109469" y="4603112"/>
            <a:ext cx="1579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Entity</a:t>
            </a:r>
            <a:endParaRPr lang="ko-KR" altLang="en-US" dirty="0"/>
          </a:p>
        </p:txBody>
      </p:sp>
      <p:sp>
        <p:nvSpPr>
          <p:cNvPr id="93" name="Rounded Rectangle 5">
            <a:extLst>
              <a:ext uri="{FF2B5EF4-FFF2-40B4-BE49-F238E27FC236}">
                <a16:creationId xmlns:a16="http://schemas.microsoft.com/office/drawing/2014/main" id="{9176D2AE-49A0-9DF7-354B-37B5002EA132}"/>
              </a:ext>
            </a:extLst>
          </p:cNvPr>
          <p:cNvSpPr/>
          <p:nvPr/>
        </p:nvSpPr>
        <p:spPr>
          <a:xfrm>
            <a:off x="7923300" y="4539922"/>
            <a:ext cx="1579610" cy="5903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15">
            <a:extLst>
              <a:ext uri="{FF2B5EF4-FFF2-40B4-BE49-F238E27FC236}">
                <a16:creationId xmlns:a16="http://schemas.microsoft.com/office/drawing/2014/main" id="{67B0ADE0-E863-82A3-2BFF-8F07F86DB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223793" flipV="1">
            <a:off x="10517322" y="4023507"/>
            <a:ext cx="821343" cy="19712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7270098-5547-EE7F-B633-E73B925EDFEA}"/>
              </a:ext>
            </a:extLst>
          </p:cNvPr>
          <p:cNvSpPr txBox="1"/>
          <p:nvPr/>
        </p:nvSpPr>
        <p:spPr>
          <a:xfrm>
            <a:off x="7867650" y="4633099"/>
            <a:ext cx="1579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Repository</a:t>
            </a:r>
            <a:endParaRPr lang="ko-KR" altLang="en-US" dirty="0"/>
          </a:p>
        </p:txBody>
      </p:sp>
      <p:pic>
        <p:nvPicPr>
          <p:cNvPr id="99" name="Picture 15">
            <a:extLst>
              <a:ext uri="{FF2B5EF4-FFF2-40B4-BE49-F238E27FC236}">
                <a16:creationId xmlns:a16="http://schemas.microsoft.com/office/drawing/2014/main" id="{D0B9CF7A-66EC-AB48-EFDD-0691B3FEB6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 flipV="1">
            <a:off x="5809463" y="2604810"/>
            <a:ext cx="626006" cy="1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929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시나리오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거래 파이프라인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, ERD)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설명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후 시연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539746"/>
            <a:ext cx="1635709" cy="24688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10462" y="2722626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362706"/>
            <a:ext cx="1489405" cy="457200"/>
          </a:xfrm>
          <a:prstGeom prst="roundRect">
            <a:avLst>
              <a:gd name="adj" fmla="val 10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38194"/>
            <a:ext cx="1544269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 dirty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Estimate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12514"/>
            <a:ext cx="1416253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화주가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출발·도착·거리·화물을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요금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계산·발송</a:t>
            </a:r>
            <a:endParaRPr sz="1000" b="0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82446" y="499033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02637" y="3591306"/>
            <a:ext cx="237744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58669" y="2539746"/>
            <a:ext cx="1635709" cy="2468880"/>
          </a:xfrm>
          <a:prstGeom prst="roundRect">
            <a:avLst>
              <a:gd name="adj" fmla="val 6000"/>
            </a:avLst>
          </a:prstGeom>
          <a:solidFill>
            <a:srgbClr val="E7F6FE"/>
          </a:solidFill>
          <a:ln w="19050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020491" y="2722626"/>
            <a:ext cx="512064" cy="51206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1821" y="3362706"/>
            <a:ext cx="1489405" cy="457200"/>
          </a:xfrm>
          <a:prstGeom prst="roundRect">
            <a:avLst>
              <a:gd name="adj" fmla="val 10000"/>
            </a:avLst>
          </a:prstGeom>
          <a:solidFill>
            <a:srgbClr val="E7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00" b="1" dirty="0" err="1">
                <a:solidFill>
                  <a:srgbClr val="0EA5E9"/>
                </a:solidFill>
                <a:latin typeface="맑은 고딕"/>
                <a:ea typeface="맑은 고딕"/>
                <a:cs typeface="맑은 고딕"/>
              </a:rPr>
              <a:t>매칭</a:t>
            </a:r>
            <a:endParaRPr sz="1700" b="1" dirty="0">
              <a:solidFill>
                <a:srgbClr val="0EA5E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04389" y="3838194"/>
            <a:ext cx="1544269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8397" y="4112514"/>
            <a:ext cx="1416253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차주가 견적을 수락/거절 → 화주-차주 연결 성사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2475" y="499033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차주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12666" y="3591306"/>
            <a:ext cx="237744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8698" y="2539746"/>
            <a:ext cx="1635709" cy="2468880"/>
          </a:xfrm>
          <a:prstGeom prst="roundRect">
            <a:avLst>
              <a:gd name="adj" fmla="val 6000"/>
            </a:avLst>
          </a:prstGeom>
          <a:solidFill>
            <a:srgbClr val="ECFDF7"/>
          </a:solidFill>
          <a:ln w="19050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0D9488"/>
              </a:solidFill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30520" y="2722626"/>
            <a:ext cx="512064" cy="51206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1850" y="3362706"/>
            <a:ext cx="1489405" cy="457200"/>
          </a:xfrm>
          <a:prstGeom prst="roundRect">
            <a:avLst>
              <a:gd name="adj" fmla="val 10000"/>
            </a:avLst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00" b="1" dirty="0" err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주문</a:t>
            </a:r>
            <a:endParaRPr sz="1700" b="1" dirty="0">
              <a:solidFill>
                <a:srgbClr val="0D948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14418" y="3838194"/>
            <a:ext cx="1544269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8426" y="4112514"/>
            <a:ext cx="1416253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확정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매칭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주문서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생성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쿠폰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금액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확정</a:t>
            </a:r>
            <a:endParaRPr sz="1000" b="0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802504" y="499033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22695" y="3591306"/>
            <a:ext cx="237744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78727" y="2539746"/>
            <a:ext cx="1635709" cy="246888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 w="1905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840550" y="2722626"/>
            <a:ext cx="512064" cy="512064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1879" y="3362706"/>
            <a:ext cx="1489405" cy="457200"/>
          </a:xfrm>
          <a:prstGeom prst="roundRect">
            <a:avLst>
              <a:gd name="adj" fmla="val 1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00" b="1">
                <a:solidFill>
                  <a:srgbClr val="4338CA"/>
                </a:solidFill>
                <a:latin typeface="맑은 고딕"/>
                <a:ea typeface="맑은 고딕"/>
                <a:cs typeface="맑은 고딕"/>
              </a:rPr>
              <a:t>결제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447" y="3838194"/>
            <a:ext cx="1544269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5" y="4112514"/>
            <a:ext cx="1416253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PortOne / 직접결제로 결제 완료 → 배송 개시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12534" y="499033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화주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32724" y="3591306"/>
            <a:ext cx="237744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188756" y="2539746"/>
            <a:ext cx="1635709" cy="246888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905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750579" y="2722626"/>
            <a:ext cx="512064" cy="512064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61908" y="3362706"/>
            <a:ext cx="1489405" cy="4572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00" b="1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배송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4476" y="3838194"/>
            <a:ext cx="1544269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8484" y="4112514"/>
            <a:ext cx="1416253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차주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운송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대기→운송중→완료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완료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메일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발송</a:t>
            </a:r>
            <a:endParaRPr sz="1000" b="0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22563" y="499033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차주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842753" y="3591306"/>
            <a:ext cx="237745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098786" y="2539746"/>
            <a:ext cx="1635709" cy="2468880"/>
          </a:xfrm>
          <a:prstGeom prst="roundRect">
            <a:avLst>
              <a:gd name="adj" fmla="val 6000"/>
            </a:avLst>
          </a:prstGeom>
          <a:solidFill>
            <a:srgbClr val="FDF2F8"/>
          </a:solidFill>
          <a:ln w="19050">
            <a:solidFill>
              <a:srgbClr val="FBC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660608" y="2722626"/>
            <a:ext cx="512064" cy="512064"/>
          </a:xfrm>
          <a:prstGeom prst="ellipse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71938" y="3362706"/>
            <a:ext cx="1489405" cy="457200"/>
          </a:xfrm>
          <a:prstGeom prst="roundRect">
            <a:avLst>
              <a:gd name="adj" fmla="val 10000"/>
            </a:avLst>
          </a:prstGeom>
          <a:solidFill>
            <a:srgbClr val="FD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00" b="1">
                <a:solidFill>
                  <a:srgbClr val="DB2777"/>
                </a:solidFill>
                <a:latin typeface="맑은 고딕"/>
                <a:ea typeface="맑은 고딕"/>
                <a:cs typeface="맑은 고딕"/>
              </a:rPr>
              <a:t>리뷰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4506" y="3838194"/>
            <a:ext cx="1544269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 dirty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08514" y="4112514"/>
            <a:ext cx="1416253" cy="5277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화주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리뷰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작성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lang="ko-KR" altLang="en-US"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텍스트</a:t>
            </a:r>
            <a:r>
              <a:rPr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lang="en-US"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altLang="ko-KR" sz="1000" b="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, </a:t>
            </a:r>
          </a:p>
          <a:p>
            <a:pPr algn="ctr">
              <a:lnSpc>
                <a:spcPct val="105000"/>
              </a:lnSpc>
            </a:pPr>
            <a:r>
              <a:rPr lang="ko-KR" altLang="en-US" sz="1000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000" b="0" dirty="0" err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신뢰점수</a:t>
            </a:r>
            <a:endParaRPr sz="1000" b="0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0532592" y="499033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화주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804DB423-D313-A6D8-D8CD-2750D6C61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A0719-D967-7932-E0D2-5C1B50A6D359}"/>
              </a:ext>
            </a:extLst>
          </p:cNvPr>
          <p:cNvSpPr txBox="1"/>
          <p:nvPr/>
        </p:nvSpPr>
        <p:spPr>
          <a:xfrm>
            <a:off x="1416424" y="1021976"/>
            <a:ext cx="8857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시연 페이지 </a:t>
            </a:r>
            <a:endParaRPr lang="en-US" altLang="ko-KR" dirty="0"/>
          </a:p>
          <a:p>
            <a:r>
              <a:rPr lang="en-US" altLang="ko-KR" dirty="0"/>
              <a:t>-----------------------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114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9C5718-99ED-DDE2-522B-C6C4E383EF8E}"/>
              </a:ext>
            </a:extLst>
          </p:cNvPr>
          <p:cNvSpPr txBox="1"/>
          <p:nvPr/>
        </p:nvSpPr>
        <p:spPr>
          <a:xfrm>
            <a:off x="502920" y="166550"/>
            <a:ext cx="9601200" cy="85561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트러블 슈팅 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일단 적어두고 추후 수정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) / 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에러 재현 및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사진으로 과정 하나하나 페이지로 만들 것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6806FB61-838C-2C83-5268-84C38C34AA5B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CBFF0F2-C459-CAE3-CDE4-1F7CB165D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18803F4-1FF1-64FA-90DE-C827C95B3AE1}"/>
              </a:ext>
            </a:extLst>
          </p:cNvPr>
          <p:cNvSpPr/>
          <p:nvPr/>
        </p:nvSpPr>
        <p:spPr>
          <a:xfrm>
            <a:off x="502920" y="1429520"/>
            <a:ext cx="7396241" cy="4938299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905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ECFDF7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ACC168-3FA5-5399-1BE2-D91C8C1D2C7A}"/>
              </a:ext>
            </a:extLst>
          </p:cNvPr>
          <p:cNvSpPr txBox="1"/>
          <p:nvPr/>
        </p:nvSpPr>
        <p:spPr>
          <a:xfrm>
            <a:off x="910628" y="1788307"/>
            <a:ext cx="546243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문제 </a:t>
            </a:r>
            <a:r>
              <a:rPr lang="en-US" altLang="ko-KR" dirty="0"/>
              <a:t>: JWT </a:t>
            </a:r>
            <a:r>
              <a:rPr lang="ko-KR" altLang="en-US" dirty="0" err="1"/>
              <a:t>리프레시</a:t>
            </a:r>
            <a:r>
              <a:rPr lang="ko-KR" altLang="en-US" dirty="0"/>
              <a:t> 토큰</a:t>
            </a:r>
            <a:endParaRPr lang="en-US" altLang="ko-KR" dirty="0"/>
          </a:p>
          <a:p>
            <a:r>
              <a:rPr lang="ko-KR" altLang="en-US" dirty="0"/>
              <a:t>프로필 알림</a:t>
            </a:r>
            <a:r>
              <a:rPr lang="en-US" altLang="ko-KR" dirty="0"/>
              <a:t>(</a:t>
            </a:r>
            <a:r>
              <a:rPr lang="ko-KR" altLang="en-US" dirty="0"/>
              <a:t>붉은 점</a:t>
            </a:r>
            <a:r>
              <a:rPr lang="en-US" altLang="ko-KR" dirty="0"/>
              <a:t>)</a:t>
            </a:r>
            <a:r>
              <a:rPr lang="ko-KR" altLang="en-US" dirty="0"/>
              <a:t>이 계정 전환 후에도 남아있는 문제를 해결하기 위해 점검하다</a:t>
            </a:r>
            <a:r>
              <a:rPr lang="en-US" altLang="ko-KR" dirty="0"/>
              <a:t> </a:t>
            </a:r>
            <a:r>
              <a:rPr lang="ko-KR" altLang="en-US" dirty="0"/>
              <a:t>로그아웃 이후에도 토큰이 무효화되지 않는 걸 발견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원인 </a:t>
            </a:r>
            <a:r>
              <a:rPr lang="en-US" altLang="ko-KR" dirty="0"/>
              <a:t>:</a:t>
            </a:r>
          </a:p>
          <a:p>
            <a:r>
              <a:rPr lang="ko-KR" altLang="ko-KR" dirty="0" err="1"/>
              <a:t>JWT는</a:t>
            </a:r>
            <a:r>
              <a:rPr lang="ko-KR" altLang="ko-KR" dirty="0"/>
              <a:t> 서버가 상태를 갖지 않는 방식이라, 한 번 발급한 토큰을 서버에서 무효화할 방법</a:t>
            </a:r>
            <a:r>
              <a:rPr lang="en-US" altLang="ko-KR" dirty="0"/>
              <a:t> X</a:t>
            </a:r>
            <a:endParaRPr lang="ko-KR" altLang="ko-KR" dirty="0"/>
          </a:p>
          <a:p>
            <a:endParaRPr lang="en-US" altLang="ko-KR" dirty="0"/>
          </a:p>
          <a:p>
            <a:r>
              <a:rPr lang="ko-KR" altLang="en-US" dirty="0"/>
              <a:t>해결 </a:t>
            </a:r>
            <a:r>
              <a:rPr lang="en-US" altLang="ko-KR" dirty="0"/>
              <a:t>:</a:t>
            </a:r>
          </a:p>
          <a:p>
            <a:r>
              <a:rPr lang="ko-KR" altLang="ko-KR" dirty="0" err="1"/>
              <a:t>리프레시</a:t>
            </a:r>
            <a:r>
              <a:rPr lang="ko-KR" altLang="ko-KR" dirty="0"/>
              <a:t> 토큰마다 고유 식별자를 부여하고, 토큰 재발급 시 기존 토큰을 즉시 폐기하고 로그아웃 시에도 서버에서 폐기하도록 구현</a:t>
            </a:r>
          </a:p>
          <a:p>
            <a:endParaRPr lang="en-US" altLang="ko-KR" dirty="0"/>
          </a:p>
          <a:p>
            <a:r>
              <a:rPr lang="ko-KR" altLang="en-US" dirty="0" err="1"/>
              <a:t>배운점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ko-KR" dirty="0" err="1"/>
              <a:t>JWT의</a:t>
            </a:r>
            <a:r>
              <a:rPr lang="ko-KR" altLang="ko-KR" dirty="0"/>
              <a:t> 무상태성</a:t>
            </a:r>
            <a:r>
              <a:rPr lang="en-US" altLang="ko-KR" dirty="0"/>
              <a:t>, </a:t>
            </a:r>
            <a:r>
              <a:rPr lang="ko-KR" altLang="en-US" dirty="0"/>
              <a:t>토큰 폐기의 필요성</a:t>
            </a:r>
            <a:r>
              <a:rPr lang="en-US" altLang="ko-KR" dirty="0"/>
              <a:t>.</a:t>
            </a:r>
            <a:endParaRPr lang="ko-KR" altLang="ko-KR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BD5BDF8-4A10-7AB6-5A0C-F7CAD7664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989" y="1870764"/>
            <a:ext cx="1267002" cy="51442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021DB7-288D-B546-B71E-2F2F1013B560}"/>
              </a:ext>
            </a:extLst>
          </p:cNvPr>
          <p:cNvSpPr txBox="1"/>
          <p:nvPr/>
        </p:nvSpPr>
        <p:spPr>
          <a:xfrm>
            <a:off x="10309412" y="1775012"/>
            <a:ext cx="1524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 </a:t>
            </a:r>
            <a:r>
              <a:rPr lang="ko-KR" altLang="en-US" dirty="0"/>
              <a:t>사용해서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로그아웃 후에도 토큰 남아있는 에러 보여주고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알림 없어도 이전 기록 남아있던 에러 재현하기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Or </a:t>
            </a:r>
            <a:r>
              <a:rPr lang="ko-KR" altLang="en-US" dirty="0"/>
              <a:t>사진으로 넣기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2EFB205-9CD5-62B7-DB5D-C20509899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38" y="2934349"/>
            <a:ext cx="4370937" cy="153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243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2">
            <a:extLst>
              <a:ext uri="{FF2B5EF4-FFF2-40B4-BE49-F238E27FC236}">
                <a16:creationId xmlns:a16="http://schemas.microsoft.com/office/drawing/2014/main" id="{FD0C1B15-2CD6-EDF2-400E-53685993923F}"/>
              </a:ext>
            </a:extLst>
          </p:cNvPr>
          <p:cNvSpPr/>
          <p:nvPr/>
        </p:nvSpPr>
        <p:spPr>
          <a:xfrm>
            <a:off x="5411404" y="1805041"/>
            <a:ext cx="6658798" cy="4543895"/>
          </a:xfrm>
          <a:prstGeom prst="roundRect">
            <a:avLst>
              <a:gd name="adj" fmla="val 6000"/>
            </a:avLst>
          </a:prstGeom>
          <a:solidFill>
            <a:srgbClr val="E7F6FE"/>
          </a:solidFill>
          <a:ln w="19050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40">
            <a:extLst>
              <a:ext uri="{FF2B5EF4-FFF2-40B4-BE49-F238E27FC236}">
                <a16:creationId xmlns:a16="http://schemas.microsoft.com/office/drawing/2014/main" id="{F70F84C2-3FA3-E58C-A3FD-0785CDF86A0A}"/>
              </a:ext>
            </a:extLst>
          </p:cNvPr>
          <p:cNvSpPr/>
          <p:nvPr/>
        </p:nvSpPr>
        <p:spPr>
          <a:xfrm>
            <a:off x="229682" y="1830010"/>
            <a:ext cx="4396106" cy="4543896"/>
          </a:xfrm>
          <a:prstGeom prst="roundRect">
            <a:avLst>
              <a:gd name="adj" fmla="val 6000"/>
            </a:avLst>
          </a:prstGeom>
          <a:solidFill>
            <a:srgbClr val="FDF2F8"/>
          </a:solidFill>
          <a:ln w="19050">
            <a:solidFill>
              <a:srgbClr val="FBC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B086FE-39C1-A67B-2A12-F597E3818309}"/>
              </a:ext>
            </a:extLst>
          </p:cNvPr>
          <p:cNvSpPr txBox="1"/>
          <p:nvPr/>
        </p:nvSpPr>
        <p:spPr>
          <a:xfrm>
            <a:off x="471543" y="2189364"/>
            <a:ext cx="483197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b="1" dirty="0"/>
              <a:t>## 1) 로그아웃 — 서버에서 토큰 폐기</a:t>
            </a:r>
            <a:endParaRPr lang="ko-KR" altLang="ko-KR" dirty="0"/>
          </a:p>
          <a:p>
            <a:r>
              <a:rPr lang="ko-KR" altLang="ko-KR" b="1" dirty="0"/>
              <a:t>**기존 (efc8ced)**</a:t>
            </a:r>
            <a:endParaRPr lang="ko-KR" altLang="ko-KR" dirty="0"/>
          </a:p>
          <a:p>
            <a:r>
              <a:rPr lang="ko-KR" altLang="ko-KR" dirty="0"/>
              <a:t>```</a:t>
            </a:r>
            <a:r>
              <a:rPr lang="ko-KR" altLang="ko-KR" dirty="0" err="1"/>
              <a:t>java</a:t>
            </a:r>
            <a:endParaRPr lang="ko-KR" altLang="ko-KR" dirty="0"/>
          </a:p>
          <a:p>
            <a:r>
              <a:rPr lang="ko-KR" altLang="ko-KR" dirty="0"/>
              <a:t>@PostMapping("/logout")</a:t>
            </a:r>
          </a:p>
          <a:p>
            <a:r>
              <a:rPr lang="ko-KR" altLang="ko-KR" dirty="0" err="1"/>
              <a:t>public</a:t>
            </a:r>
            <a:r>
              <a:rPr lang="ko-KR" altLang="ko-KR" dirty="0"/>
              <a:t> </a:t>
            </a:r>
            <a:r>
              <a:rPr lang="ko-KR" altLang="ko-KR" dirty="0" err="1"/>
              <a:t>ResponseEntity</a:t>
            </a:r>
            <a:r>
              <a:rPr lang="ko-KR" altLang="ko-KR" dirty="0"/>
              <a:t>&lt;?&gt; </a:t>
            </a:r>
            <a:r>
              <a:rPr lang="ko-KR" altLang="ko-KR" dirty="0" err="1"/>
              <a:t>logout</a:t>
            </a:r>
            <a:r>
              <a:rPr lang="ko-KR" altLang="ko-KR" dirty="0"/>
              <a:t>() {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ResponseEntity.ok</a:t>
            </a:r>
            <a:r>
              <a:rPr lang="ko-KR" altLang="ko-KR" dirty="0"/>
              <a:t>(</a:t>
            </a:r>
            <a:r>
              <a:rPr lang="ko-KR" altLang="ko-KR" dirty="0" err="1"/>
              <a:t>Map.of</a:t>
            </a:r>
            <a:r>
              <a:rPr lang="ko-KR" altLang="ko-KR" dirty="0"/>
              <a:t>("</a:t>
            </a:r>
            <a:r>
              <a:rPr lang="ko-KR" altLang="ko-KR" dirty="0" err="1"/>
              <a:t>ok</a:t>
            </a:r>
            <a:r>
              <a:rPr lang="ko-KR" altLang="ko-KR" dirty="0"/>
              <a:t>", </a:t>
            </a:r>
            <a:r>
              <a:rPr lang="ko-KR" altLang="ko-KR" dirty="0" err="1"/>
              <a:t>true</a:t>
            </a:r>
            <a:r>
              <a:rPr lang="ko-KR" altLang="ko-KR" dirty="0"/>
              <a:t>));   // 아무것도 폐기 안 함</a:t>
            </a:r>
          </a:p>
          <a:p>
            <a:r>
              <a:rPr lang="ko-KR" altLang="ko-KR" dirty="0"/>
              <a:t>}</a:t>
            </a:r>
          </a:p>
          <a:p>
            <a:r>
              <a:rPr lang="ko-KR" altLang="ko-KR" dirty="0"/>
              <a:t>```</a:t>
            </a:r>
          </a:p>
          <a:p>
            <a:br>
              <a:rPr lang="ko-KR" altLang="ko-KR" dirty="0"/>
            </a:br>
            <a:endParaRPr lang="ko-KR" altLang="ko-KR" dirty="0"/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326179-9E4A-01C4-82D6-871A8FD9C1B6}"/>
              </a:ext>
            </a:extLst>
          </p:cNvPr>
          <p:cNvSpPr txBox="1"/>
          <p:nvPr/>
        </p:nvSpPr>
        <p:spPr>
          <a:xfrm>
            <a:off x="5411404" y="1957520"/>
            <a:ext cx="696038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600" b="1" dirty="0"/>
              <a:t>## 1) 로그아웃 — 서버에서 토큰 폐기</a:t>
            </a:r>
            <a:endParaRPr lang="ko-KR" altLang="ko-KR" sz="1600" dirty="0"/>
          </a:p>
          <a:p>
            <a:r>
              <a:rPr lang="ko-KR" altLang="ko-KR" sz="1600" b="1" dirty="0"/>
              <a:t>**변경 (수정본)**</a:t>
            </a:r>
            <a:endParaRPr lang="ko-KR" altLang="ko-KR" sz="1600" dirty="0"/>
          </a:p>
          <a:p>
            <a:r>
              <a:rPr lang="ko-KR" altLang="ko-KR" sz="1600" dirty="0"/>
              <a:t>```</a:t>
            </a:r>
            <a:r>
              <a:rPr lang="ko-KR" altLang="ko-KR" sz="1600" dirty="0" err="1"/>
              <a:t>java</a:t>
            </a:r>
            <a:endParaRPr lang="ko-KR" altLang="ko-KR" sz="1600" dirty="0"/>
          </a:p>
          <a:p>
            <a:r>
              <a:rPr lang="ko-KR" altLang="ko-KR" sz="1600" dirty="0"/>
              <a:t>@PostMapping("/logout")</a:t>
            </a:r>
          </a:p>
          <a:p>
            <a:r>
              <a:rPr lang="ko-KR" altLang="ko-KR" sz="1600" dirty="0" err="1"/>
              <a:t>public</a:t>
            </a:r>
            <a:r>
              <a:rPr lang="ko-KR" altLang="ko-KR" sz="1600" dirty="0"/>
              <a:t> </a:t>
            </a:r>
            <a:r>
              <a:rPr lang="ko-KR" altLang="ko-KR" sz="1600" dirty="0" err="1"/>
              <a:t>ResponseEntity</a:t>
            </a:r>
            <a:r>
              <a:rPr lang="ko-KR" altLang="ko-KR" sz="1600" dirty="0"/>
              <a:t>&lt;?&gt; </a:t>
            </a:r>
            <a:r>
              <a:rPr lang="ko-KR" altLang="ko-KR" sz="1600" dirty="0" err="1"/>
              <a:t>logout</a:t>
            </a:r>
            <a:r>
              <a:rPr lang="ko-KR" altLang="ko-KR" sz="1600" dirty="0"/>
              <a:t>(@RequestBody </a:t>
            </a:r>
            <a:r>
              <a:rPr lang="ko-KR" altLang="ko-KR" sz="1600" dirty="0" err="1"/>
              <a:t>LogoutReq</a:t>
            </a:r>
            <a:r>
              <a:rPr lang="ko-KR" altLang="ko-KR" sz="1600" dirty="0"/>
              <a:t> </a:t>
            </a:r>
            <a:r>
              <a:rPr lang="ko-KR" altLang="ko-KR" sz="1600" dirty="0" err="1"/>
              <a:t>req</a:t>
            </a:r>
            <a:r>
              <a:rPr lang="ko-KR" altLang="ko-KR" sz="1600" dirty="0"/>
              <a:t>) {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tokenBlacklistService.revoke</a:t>
            </a:r>
            <a:r>
              <a:rPr lang="ko-KR" altLang="ko-KR" sz="1600" dirty="0"/>
              <a:t>(                    // ★ </a:t>
            </a:r>
            <a:r>
              <a:rPr lang="ko-KR" altLang="ko-KR" sz="1600" dirty="0" err="1"/>
              <a:t>리프레시</a:t>
            </a:r>
            <a:r>
              <a:rPr lang="ko-KR" altLang="ko-KR" sz="1600" dirty="0"/>
              <a:t> 토큰 서버측 폐기</a:t>
            </a:r>
          </a:p>
          <a:p>
            <a:r>
              <a:rPr lang="ko-KR" altLang="ko-KR" sz="1600" dirty="0"/>
              <a:t>        </a:t>
            </a:r>
            <a:r>
              <a:rPr lang="ko-KR" altLang="ko-KR" sz="1600" dirty="0" err="1"/>
              <a:t>jwtService.getJti</a:t>
            </a:r>
            <a:r>
              <a:rPr lang="ko-KR" altLang="ko-KR" sz="1600" dirty="0"/>
              <a:t>(</a:t>
            </a:r>
            <a:r>
              <a:rPr lang="ko-KR" altLang="ko-KR" sz="1600" dirty="0" err="1"/>
              <a:t>req.getRefreshToken</a:t>
            </a:r>
            <a:r>
              <a:rPr lang="ko-KR" altLang="ko-KR" sz="1600" dirty="0"/>
              <a:t>()),</a:t>
            </a:r>
          </a:p>
          <a:p>
            <a:r>
              <a:rPr lang="ko-KR" altLang="ko-KR" sz="1600" dirty="0"/>
              <a:t>        </a:t>
            </a:r>
            <a:r>
              <a:rPr lang="ko-KR" altLang="ko-KR" sz="1600" dirty="0" err="1"/>
              <a:t>jwtService.getExpiresAt</a:t>
            </a:r>
            <a:r>
              <a:rPr lang="ko-KR" altLang="ko-KR" sz="1600" dirty="0"/>
              <a:t>(</a:t>
            </a:r>
            <a:r>
              <a:rPr lang="ko-KR" altLang="ko-KR" sz="1600" dirty="0" err="1"/>
              <a:t>req.getRefreshToken</a:t>
            </a:r>
            <a:r>
              <a:rPr lang="ko-KR" altLang="ko-KR" sz="1600" dirty="0"/>
              <a:t>()));</a:t>
            </a:r>
          </a:p>
          <a:p>
            <a:r>
              <a:rPr lang="ko-KR" altLang="ko-KR" sz="1600" dirty="0"/>
              <a:t>    </a:t>
            </a:r>
            <a:r>
              <a:rPr lang="ko-KR" altLang="ko-KR" sz="1600" dirty="0" err="1"/>
              <a:t>return</a:t>
            </a:r>
            <a:r>
              <a:rPr lang="ko-KR" altLang="ko-KR" sz="1600" dirty="0"/>
              <a:t> </a:t>
            </a:r>
            <a:r>
              <a:rPr lang="ko-KR" altLang="ko-KR" sz="1600" dirty="0" err="1"/>
              <a:t>ResponseEntity.ok</a:t>
            </a:r>
            <a:r>
              <a:rPr lang="ko-KR" altLang="ko-KR" sz="1600" dirty="0"/>
              <a:t>(</a:t>
            </a:r>
            <a:r>
              <a:rPr lang="ko-KR" altLang="ko-KR" sz="1600" dirty="0" err="1"/>
              <a:t>Map.of</a:t>
            </a:r>
            <a:r>
              <a:rPr lang="ko-KR" altLang="ko-KR" sz="1600" dirty="0"/>
              <a:t>("</a:t>
            </a:r>
            <a:r>
              <a:rPr lang="ko-KR" altLang="ko-KR" sz="1600" dirty="0" err="1"/>
              <a:t>ok</a:t>
            </a:r>
            <a:r>
              <a:rPr lang="ko-KR" altLang="ko-KR" sz="1600" dirty="0"/>
              <a:t>", </a:t>
            </a:r>
            <a:r>
              <a:rPr lang="ko-KR" altLang="ko-KR" sz="1600" dirty="0" err="1"/>
              <a:t>true</a:t>
            </a:r>
            <a:r>
              <a:rPr lang="ko-KR" altLang="ko-KR" sz="1600" dirty="0"/>
              <a:t>));</a:t>
            </a:r>
          </a:p>
          <a:p>
            <a:r>
              <a:rPr lang="ko-KR" altLang="ko-KR" sz="1600" dirty="0"/>
              <a:t>}</a:t>
            </a:r>
          </a:p>
          <a:p>
            <a:r>
              <a:rPr lang="ko-KR" altLang="ko-KR" sz="1600" dirty="0"/>
              <a:t>```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19BE3-A95A-D16F-D2D0-6922F016BE15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향후 개선 사항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8ACB679-9394-A49C-14BF-C24BC783439A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7030A0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D61F40-3BEE-BF26-82D7-29D6AD42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cxnSp>
        <p:nvCxnSpPr>
          <p:cNvPr id="12" name="Connector 39">
            <a:extLst>
              <a:ext uri="{FF2B5EF4-FFF2-40B4-BE49-F238E27FC236}">
                <a16:creationId xmlns:a16="http://schemas.microsoft.com/office/drawing/2014/main" id="{9102DF5A-A0E0-16D9-28C0-19AFBFFD4B93}"/>
              </a:ext>
            </a:extLst>
          </p:cNvPr>
          <p:cNvCxnSpPr>
            <a:cxnSpLocks/>
          </p:cNvCxnSpPr>
          <p:nvPr/>
        </p:nvCxnSpPr>
        <p:spPr>
          <a:xfrm>
            <a:off x="4625788" y="3143071"/>
            <a:ext cx="78561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401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2">
            <a:extLst>
              <a:ext uri="{FF2B5EF4-FFF2-40B4-BE49-F238E27FC236}">
                <a16:creationId xmlns:a16="http://schemas.microsoft.com/office/drawing/2014/main" id="{CE84C126-04EA-C05B-9AE8-C940B3322D3F}"/>
              </a:ext>
            </a:extLst>
          </p:cNvPr>
          <p:cNvSpPr/>
          <p:nvPr/>
        </p:nvSpPr>
        <p:spPr>
          <a:xfrm>
            <a:off x="5303520" y="1260076"/>
            <a:ext cx="6658798" cy="5113830"/>
          </a:xfrm>
          <a:prstGeom prst="roundRect">
            <a:avLst>
              <a:gd name="adj" fmla="val 6000"/>
            </a:avLst>
          </a:prstGeom>
          <a:solidFill>
            <a:srgbClr val="E7F6FE"/>
          </a:solidFill>
          <a:ln w="19050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40">
            <a:extLst>
              <a:ext uri="{FF2B5EF4-FFF2-40B4-BE49-F238E27FC236}">
                <a16:creationId xmlns:a16="http://schemas.microsoft.com/office/drawing/2014/main" id="{9C674560-1750-3327-3164-FE957E6BA234}"/>
              </a:ext>
            </a:extLst>
          </p:cNvPr>
          <p:cNvSpPr/>
          <p:nvPr/>
        </p:nvSpPr>
        <p:spPr>
          <a:xfrm>
            <a:off x="229682" y="1260076"/>
            <a:ext cx="4396106" cy="5113830"/>
          </a:xfrm>
          <a:prstGeom prst="roundRect">
            <a:avLst>
              <a:gd name="adj" fmla="val 6000"/>
            </a:avLst>
          </a:prstGeom>
          <a:solidFill>
            <a:srgbClr val="FDF2F8"/>
          </a:solidFill>
          <a:ln w="19050">
            <a:solidFill>
              <a:srgbClr val="FBC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D180E-2694-9D89-DAAE-681BBA2F455C}"/>
              </a:ext>
            </a:extLst>
          </p:cNvPr>
          <p:cNvSpPr txBox="1"/>
          <p:nvPr/>
        </p:nvSpPr>
        <p:spPr>
          <a:xfrm>
            <a:off x="358588" y="1685365"/>
            <a:ext cx="429409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b="1" dirty="0"/>
              <a:t>## 2) 토큰 재발급(/</a:t>
            </a:r>
            <a:r>
              <a:rPr lang="ko-KR" altLang="ko-KR" b="1" dirty="0" err="1"/>
              <a:t>refresh</a:t>
            </a:r>
            <a:r>
              <a:rPr lang="ko-KR" altLang="ko-KR" b="1" dirty="0"/>
              <a:t>) — 폐기 검사 + 회전(</a:t>
            </a:r>
            <a:r>
              <a:rPr lang="ko-KR" altLang="ko-KR" b="1" dirty="0" err="1"/>
              <a:t>rotation</a:t>
            </a:r>
            <a:r>
              <a:rPr lang="ko-KR" altLang="ko-KR" b="1" dirty="0"/>
              <a:t>)</a:t>
            </a:r>
            <a:endParaRPr lang="ko-KR" altLang="ko-KR" dirty="0"/>
          </a:p>
          <a:p>
            <a:r>
              <a:rPr lang="ko-KR" altLang="ko-KR" b="1" dirty="0"/>
              <a:t>**기존**</a:t>
            </a:r>
            <a:endParaRPr lang="ko-KR" altLang="ko-KR" dirty="0"/>
          </a:p>
          <a:p>
            <a:r>
              <a:rPr lang="ko-KR" altLang="ko-KR" dirty="0"/>
              <a:t>```</a:t>
            </a:r>
            <a:r>
              <a:rPr lang="ko-KR" altLang="ko-KR" dirty="0" err="1"/>
              <a:t>java</a:t>
            </a:r>
            <a:endParaRPr lang="ko-KR" altLang="ko-KR" dirty="0"/>
          </a:p>
          <a:p>
            <a:r>
              <a:rPr lang="ko-KR" altLang="ko-KR" dirty="0"/>
              <a:t>// </a:t>
            </a:r>
            <a:r>
              <a:rPr lang="ko-KR" altLang="ko-KR" dirty="0" err="1"/>
              <a:t>서명·만료만</a:t>
            </a:r>
            <a:r>
              <a:rPr lang="ko-KR" altLang="ko-KR" dirty="0"/>
              <a:t> 통과하면 무조건 재발급</a:t>
            </a:r>
          </a:p>
          <a:p>
            <a:r>
              <a:rPr lang="ko-KR" altLang="ko-KR" dirty="0" err="1"/>
              <a:t>String</a:t>
            </a:r>
            <a:r>
              <a:rPr lang="ko-KR" altLang="ko-KR" dirty="0"/>
              <a:t> </a:t>
            </a:r>
            <a:r>
              <a:rPr lang="ko-KR" altLang="ko-KR" dirty="0" err="1"/>
              <a:t>access</a:t>
            </a:r>
            <a:r>
              <a:rPr lang="ko-KR" altLang="ko-KR" dirty="0"/>
              <a:t> = </a:t>
            </a:r>
            <a:r>
              <a:rPr lang="ko-KR" altLang="ko-KR" dirty="0" err="1"/>
              <a:t>jwtService.generateAccessToken</a:t>
            </a:r>
            <a:r>
              <a:rPr lang="ko-KR" altLang="ko-KR" dirty="0"/>
              <a:t>(</a:t>
            </a:r>
            <a:r>
              <a:rPr lang="ko-KR" altLang="ko-KR" dirty="0" err="1"/>
              <a:t>auth</a:t>
            </a:r>
            <a:r>
              <a:rPr lang="ko-KR" altLang="ko-KR" dirty="0"/>
              <a:t>);</a:t>
            </a:r>
          </a:p>
          <a:p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Map.of</a:t>
            </a:r>
            <a:r>
              <a:rPr lang="ko-KR" altLang="ko-KR" dirty="0"/>
              <a:t>("</a:t>
            </a:r>
            <a:r>
              <a:rPr lang="ko-KR" altLang="ko-KR" dirty="0" err="1"/>
              <a:t>accessToken</a:t>
            </a:r>
            <a:r>
              <a:rPr lang="ko-KR" altLang="ko-KR" dirty="0"/>
              <a:t>",  </a:t>
            </a:r>
            <a:r>
              <a:rPr lang="ko-KR" altLang="ko-KR" dirty="0" err="1"/>
              <a:t>access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              "</a:t>
            </a:r>
            <a:r>
              <a:rPr lang="ko-KR" altLang="ko-KR" dirty="0" err="1"/>
              <a:t>refreshToken</a:t>
            </a:r>
            <a:r>
              <a:rPr lang="ko-KR" altLang="ko-KR" dirty="0"/>
              <a:t>", </a:t>
            </a:r>
            <a:r>
              <a:rPr lang="ko-KR" altLang="ko-KR" dirty="0" err="1"/>
              <a:t>refreshToken</a:t>
            </a:r>
            <a:r>
              <a:rPr lang="ko-KR" altLang="ko-KR" dirty="0"/>
              <a:t>);         // 같은 토큰 그대로 </a:t>
            </a:r>
            <a:r>
              <a:rPr lang="ko-KR" altLang="ko-KR" dirty="0" err="1"/>
              <a:t>재반환</a:t>
            </a:r>
            <a:endParaRPr lang="ko-KR" altLang="ko-KR" dirty="0"/>
          </a:p>
          <a:p>
            <a:r>
              <a:rPr lang="ko-KR" altLang="ko-KR" dirty="0"/>
              <a:t>```</a:t>
            </a:r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0C4991-A08D-E857-1E4D-6A7D5EB32AEC}"/>
              </a:ext>
            </a:extLst>
          </p:cNvPr>
          <p:cNvSpPr txBox="1"/>
          <p:nvPr/>
        </p:nvSpPr>
        <p:spPr>
          <a:xfrm>
            <a:off x="5303520" y="1294998"/>
            <a:ext cx="665879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b="1" dirty="0"/>
              <a:t>## 2) 토큰 재발급(/</a:t>
            </a:r>
            <a:r>
              <a:rPr lang="ko-KR" altLang="ko-KR" b="1" dirty="0" err="1"/>
              <a:t>refresh</a:t>
            </a:r>
            <a:r>
              <a:rPr lang="ko-KR" altLang="ko-KR" b="1" dirty="0"/>
              <a:t>) — 폐기 검사 + 회전(</a:t>
            </a:r>
            <a:r>
              <a:rPr lang="ko-KR" altLang="ko-KR" b="1" dirty="0" err="1"/>
              <a:t>rotation</a:t>
            </a:r>
            <a:r>
              <a:rPr lang="ko-KR" altLang="ko-KR" b="1" dirty="0"/>
              <a:t>)</a:t>
            </a:r>
            <a:endParaRPr lang="ko-KR" altLang="ko-KR" dirty="0"/>
          </a:p>
          <a:p>
            <a:r>
              <a:rPr lang="ko-KR" altLang="ko-KR" b="1" dirty="0"/>
              <a:t>**변경**</a:t>
            </a:r>
            <a:endParaRPr lang="ko-KR" altLang="ko-KR" dirty="0"/>
          </a:p>
          <a:p>
            <a:r>
              <a:rPr lang="ko-KR" altLang="ko-KR" dirty="0"/>
              <a:t>```</a:t>
            </a:r>
            <a:r>
              <a:rPr lang="ko-KR" altLang="ko-KR" dirty="0" err="1"/>
              <a:t>java</a:t>
            </a:r>
            <a:endParaRPr lang="ko-KR" altLang="ko-KR" dirty="0"/>
          </a:p>
          <a:p>
            <a:r>
              <a:rPr lang="ko-KR" altLang="ko-KR" dirty="0" err="1"/>
              <a:t>if</a:t>
            </a:r>
            <a:r>
              <a:rPr lang="ko-KR" altLang="ko-KR" dirty="0"/>
              <a:t> (</a:t>
            </a:r>
            <a:r>
              <a:rPr lang="ko-KR" altLang="ko-KR" dirty="0" err="1"/>
              <a:t>tokenBlacklistService.isRevoked</a:t>
            </a:r>
            <a:r>
              <a:rPr lang="ko-KR" altLang="ko-KR" dirty="0"/>
              <a:t>(</a:t>
            </a:r>
            <a:r>
              <a:rPr lang="ko-KR" altLang="ko-KR" dirty="0" err="1"/>
              <a:t>jti</a:t>
            </a:r>
            <a:r>
              <a:rPr lang="ko-KR" altLang="ko-KR" dirty="0"/>
              <a:t>))            // ★ 폐기된 토큰이면 거부</a:t>
            </a:r>
          </a:p>
          <a:p>
            <a:r>
              <a:rPr lang="ko-KR" altLang="ko-KR" dirty="0"/>
              <a:t>    </a:t>
            </a:r>
            <a:r>
              <a:rPr lang="ko-KR" altLang="ko-KR" dirty="0" err="1"/>
              <a:t>return</a:t>
            </a:r>
            <a:r>
              <a:rPr lang="ko-KR" altLang="ko-KR" dirty="0"/>
              <a:t> 401 ("REVOKED_REFRESH");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 err="1"/>
              <a:t>String</a:t>
            </a:r>
            <a:r>
              <a:rPr lang="ko-KR" altLang="ko-KR" dirty="0"/>
              <a:t> </a:t>
            </a:r>
            <a:r>
              <a:rPr lang="ko-KR" altLang="ko-KR" dirty="0" err="1"/>
              <a:t>access</a:t>
            </a:r>
            <a:r>
              <a:rPr lang="ko-KR" altLang="ko-KR" dirty="0"/>
              <a:t> = </a:t>
            </a:r>
            <a:r>
              <a:rPr lang="ko-KR" altLang="ko-KR" dirty="0" err="1"/>
              <a:t>jwtService.generateAccessToken</a:t>
            </a:r>
            <a:r>
              <a:rPr lang="ko-KR" altLang="ko-KR" dirty="0"/>
              <a:t>(</a:t>
            </a:r>
            <a:r>
              <a:rPr lang="ko-KR" altLang="ko-KR" dirty="0" err="1"/>
              <a:t>auth</a:t>
            </a:r>
            <a:r>
              <a:rPr lang="ko-KR" altLang="ko-KR" dirty="0"/>
              <a:t>);</a:t>
            </a:r>
          </a:p>
          <a:p>
            <a:r>
              <a:rPr lang="ko-KR" altLang="ko-KR" dirty="0" err="1"/>
              <a:t>tokenBlacklistService.revoke</a:t>
            </a:r>
            <a:r>
              <a:rPr lang="ko-KR" altLang="ko-KR" dirty="0"/>
              <a:t>(</a:t>
            </a:r>
            <a:r>
              <a:rPr lang="ko-KR" altLang="ko-KR" dirty="0" err="1"/>
              <a:t>jti</a:t>
            </a:r>
            <a:r>
              <a:rPr lang="ko-KR" altLang="ko-KR" dirty="0"/>
              <a:t>, ...);              // ★ 방금 쓴 토큰 즉시 폐기</a:t>
            </a:r>
          </a:p>
          <a:p>
            <a:r>
              <a:rPr lang="ko-KR" altLang="ko-KR" dirty="0" err="1"/>
              <a:t>String</a:t>
            </a:r>
            <a:r>
              <a:rPr lang="ko-KR" altLang="ko-KR" dirty="0"/>
              <a:t> </a:t>
            </a:r>
            <a:r>
              <a:rPr lang="ko-KR" altLang="ko-KR" dirty="0" err="1"/>
              <a:t>newRefresh</a:t>
            </a:r>
            <a:r>
              <a:rPr lang="ko-KR" altLang="ko-KR" dirty="0"/>
              <a:t> = </a:t>
            </a:r>
            <a:r>
              <a:rPr lang="ko-KR" altLang="ko-KR" dirty="0" err="1"/>
              <a:t>jwtService.generateRefreshToken</a:t>
            </a:r>
            <a:r>
              <a:rPr lang="ko-KR" altLang="ko-KR" dirty="0"/>
              <a:t>(</a:t>
            </a:r>
            <a:r>
              <a:rPr lang="ko-KR" altLang="ko-KR" dirty="0" err="1"/>
              <a:t>auth</a:t>
            </a:r>
            <a:r>
              <a:rPr lang="ko-KR" altLang="ko-KR" dirty="0"/>
              <a:t>);   // ★ 새 토큰 발급(회전)</a:t>
            </a:r>
          </a:p>
          <a:p>
            <a:r>
              <a:rPr lang="ko-KR" altLang="ko-KR" dirty="0" err="1"/>
              <a:t>return</a:t>
            </a:r>
            <a:r>
              <a:rPr lang="ko-KR" altLang="ko-KR" dirty="0"/>
              <a:t> </a:t>
            </a:r>
            <a:r>
              <a:rPr lang="ko-KR" altLang="ko-KR" dirty="0" err="1"/>
              <a:t>Map.of</a:t>
            </a:r>
            <a:r>
              <a:rPr lang="ko-KR" altLang="ko-KR" dirty="0"/>
              <a:t>("</a:t>
            </a:r>
            <a:r>
              <a:rPr lang="ko-KR" altLang="ko-KR" dirty="0" err="1"/>
              <a:t>accessToken</a:t>
            </a:r>
            <a:r>
              <a:rPr lang="ko-KR" altLang="ko-KR" dirty="0"/>
              <a:t>",  </a:t>
            </a:r>
            <a:r>
              <a:rPr lang="ko-KR" altLang="ko-KR" dirty="0" err="1"/>
              <a:t>access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              "</a:t>
            </a:r>
            <a:r>
              <a:rPr lang="ko-KR" altLang="ko-KR" dirty="0" err="1"/>
              <a:t>refreshToken</a:t>
            </a:r>
            <a:r>
              <a:rPr lang="ko-KR" altLang="ko-KR" dirty="0"/>
              <a:t>", </a:t>
            </a:r>
            <a:r>
              <a:rPr lang="ko-KR" altLang="ko-KR" dirty="0" err="1"/>
              <a:t>newRefresh</a:t>
            </a:r>
            <a:r>
              <a:rPr lang="ko-KR" altLang="ko-KR" dirty="0"/>
              <a:t>);           // 회전된 새 토큰 반환</a:t>
            </a:r>
          </a:p>
          <a:p>
            <a:r>
              <a:rPr lang="ko-KR" altLang="ko-KR" dirty="0"/>
              <a:t>```</a:t>
            </a:r>
          </a:p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CB5008-8FD7-8027-9D72-33CFB74E66AF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향후 개선 사항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C463770-F545-D8DF-E39B-F52231465863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7030A0"/>
              </a:solidFill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3384852-5453-14A5-FB50-50A99054A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cxnSp>
        <p:nvCxnSpPr>
          <p:cNvPr id="17" name="Connector 39">
            <a:extLst>
              <a:ext uri="{FF2B5EF4-FFF2-40B4-BE49-F238E27FC236}">
                <a16:creationId xmlns:a16="http://schemas.microsoft.com/office/drawing/2014/main" id="{D332B787-BAA7-D062-BBD3-D4460F40EDBA}"/>
              </a:ext>
            </a:extLst>
          </p:cNvPr>
          <p:cNvCxnSpPr>
            <a:cxnSpLocks/>
          </p:cNvCxnSpPr>
          <p:nvPr/>
        </p:nvCxnSpPr>
        <p:spPr>
          <a:xfrm>
            <a:off x="4625788" y="3143071"/>
            <a:ext cx="677732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972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4B1475B-5D29-DAEA-B996-5D7FCD521ECF}"/>
              </a:ext>
            </a:extLst>
          </p:cNvPr>
          <p:cNvSpPr/>
          <p:nvPr/>
        </p:nvSpPr>
        <p:spPr>
          <a:xfrm>
            <a:off x="6218816" y="1346134"/>
            <a:ext cx="4070250" cy="2569661"/>
          </a:xfrm>
          <a:prstGeom prst="roundRect">
            <a:avLst>
              <a:gd name="adj" fmla="val 6000"/>
            </a:avLst>
          </a:prstGeom>
          <a:solidFill>
            <a:srgbClr val="ECFDF7"/>
          </a:solidFill>
          <a:ln w="19050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ECFDF7"/>
              </a:solidFill>
            </a:endParaRP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2EF4842B-0FEB-BB68-E890-0585A0CD9D4E}"/>
              </a:ext>
            </a:extLst>
          </p:cNvPr>
          <p:cNvSpPr/>
          <p:nvPr/>
        </p:nvSpPr>
        <p:spPr>
          <a:xfrm>
            <a:off x="837566" y="1345211"/>
            <a:ext cx="4070250" cy="2570584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794BC7-CC49-B52D-C14C-A7CA2EA806C0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향후 개선 사항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08D3200-E4D4-0CB5-ECAF-A8F640B40173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7030A0"/>
              </a:solidFill>
            </a:endParaRPr>
          </a:p>
        </p:txBody>
      </p:sp>
      <p:sp>
        <p:nvSpPr>
          <p:cNvPr id="5" name="Oval 6">
            <a:extLst>
              <a:ext uri="{FF2B5EF4-FFF2-40B4-BE49-F238E27FC236}">
                <a16:creationId xmlns:a16="http://schemas.microsoft.com/office/drawing/2014/main" id="{CF88E4A7-642B-8287-D49D-425B9A3051D4}"/>
              </a:ext>
            </a:extLst>
          </p:cNvPr>
          <p:cNvSpPr/>
          <p:nvPr/>
        </p:nvSpPr>
        <p:spPr>
          <a:xfrm>
            <a:off x="969621" y="1428403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Rounded Rectangle 7">
            <a:extLst>
              <a:ext uri="{FF2B5EF4-FFF2-40B4-BE49-F238E27FC236}">
                <a16:creationId xmlns:a16="http://schemas.microsoft.com/office/drawing/2014/main" id="{25B07ACE-AF1E-26DC-850E-7A9515C6D706}"/>
              </a:ext>
            </a:extLst>
          </p:cNvPr>
          <p:cNvSpPr/>
          <p:nvPr/>
        </p:nvSpPr>
        <p:spPr>
          <a:xfrm>
            <a:off x="1506965" y="1455835"/>
            <a:ext cx="2587479" cy="457200"/>
          </a:xfrm>
          <a:prstGeom prst="roundRect">
            <a:avLst>
              <a:gd name="adj" fmla="val 10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r>
              <a:rPr lang="ko-KR" altLang="en-US" sz="1700" b="1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실시간성 강화</a:t>
            </a:r>
            <a:endParaRPr sz="1700" b="1" dirty="0">
              <a:solidFill>
                <a:srgbClr val="2563E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Rounded Rectangle 7">
            <a:extLst>
              <a:ext uri="{FF2B5EF4-FFF2-40B4-BE49-F238E27FC236}">
                <a16:creationId xmlns:a16="http://schemas.microsoft.com/office/drawing/2014/main" id="{F58AB3EA-3EE2-2DC9-32CA-DD3E373CABCE}"/>
              </a:ext>
            </a:extLst>
          </p:cNvPr>
          <p:cNvSpPr/>
          <p:nvPr/>
        </p:nvSpPr>
        <p:spPr>
          <a:xfrm>
            <a:off x="7061367" y="1455835"/>
            <a:ext cx="2385148" cy="457200"/>
          </a:xfrm>
          <a:prstGeom prst="roundRect">
            <a:avLst>
              <a:gd name="adj" fmla="val 10000"/>
            </a:avLst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r>
              <a:rPr lang="ko-KR" altLang="en-US" sz="1700" b="1" dirty="0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매칭 고도화</a:t>
            </a:r>
            <a:endParaRPr sz="1700" b="1" dirty="0">
              <a:solidFill>
                <a:srgbClr val="0D948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6D80F1-DE80-A265-EE7D-E85E0889F6B4}"/>
              </a:ext>
            </a:extLst>
          </p:cNvPr>
          <p:cNvSpPr txBox="1"/>
          <p:nvPr/>
        </p:nvSpPr>
        <p:spPr>
          <a:xfrm>
            <a:off x="1523365" y="2211640"/>
            <a:ext cx="2974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배송 중 현재 위치 제공</a:t>
            </a:r>
            <a:endParaRPr lang="en-US" altLang="ko-KR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07BAAD-646F-BB61-120B-8F8D49CC7CDA}"/>
              </a:ext>
            </a:extLst>
          </p:cNvPr>
          <p:cNvSpPr txBox="1"/>
          <p:nvPr/>
        </p:nvSpPr>
        <p:spPr>
          <a:xfrm>
            <a:off x="1523365" y="2879577"/>
            <a:ext cx="29744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견적서 수락 및 문의 답변</a:t>
            </a:r>
            <a:endParaRPr lang="en-US" altLang="ko-KR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알람 제공 </a:t>
            </a:r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(</a:t>
            </a:r>
            <a:r>
              <a:rPr lang="ko-KR" altLang="en-US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웹소켓</a:t>
            </a:r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</p:txBody>
      </p:sp>
      <p:sp>
        <p:nvSpPr>
          <p:cNvPr id="29" name="Rectangle 3">
            <a:extLst>
              <a:ext uri="{FF2B5EF4-FFF2-40B4-BE49-F238E27FC236}">
                <a16:creationId xmlns:a16="http://schemas.microsoft.com/office/drawing/2014/main" id="{F7417BF1-2E96-353A-6416-9E9050F3D482}"/>
              </a:ext>
            </a:extLst>
          </p:cNvPr>
          <p:cNvSpPr/>
          <p:nvPr/>
        </p:nvSpPr>
        <p:spPr>
          <a:xfrm>
            <a:off x="1523366" y="2676093"/>
            <a:ext cx="2571078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1" name="Rectangle 3">
            <a:extLst>
              <a:ext uri="{FF2B5EF4-FFF2-40B4-BE49-F238E27FC236}">
                <a16:creationId xmlns:a16="http://schemas.microsoft.com/office/drawing/2014/main" id="{1B67291E-A1AE-4411-1E66-4EA1396AC5C7}"/>
              </a:ext>
            </a:extLst>
          </p:cNvPr>
          <p:cNvSpPr/>
          <p:nvPr/>
        </p:nvSpPr>
        <p:spPr>
          <a:xfrm>
            <a:off x="1506965" y="3622491"/>
            <a:ext cx="2571078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272053-C7AB-605B-F6C9-C7F6E6B5B5EE}"/>
              </a:ext>
            </a:extLst>
          </p:cNvPr>
          <p:cNvSpPr txBox="1"/>
          <p:nvPr/>
        </p:nvSpPr>
        <p:spPr>
          <a:xfrm>
            <a:off x="7172841" y="2879577"/>
            <a:ext cx="29744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견적서 위치 기반 </a:t>
            </a:r>
            <a:endParaRPr lang="en-US" altLang="ko-KR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매칭 추천</a:t>
            </a:r>
            <a:endParaRPr lang="en-US" altLang="ko-KR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C43F52AE-7312-1D3F-A97C-19DF9ED68518}"/>
              </a:ext>
            </a:extLst>
          </p:cNvPr>
          <p:cNvSpPr/>
          <p:nvPr/>
        </p:nvSpPr>
        <p:spPr>
          <a:xfrm>
            <a:off x="7172844" y="2676093"/>
            <a:ext cx="2571078" cy="45719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D8B4EA-5EFE-BF6F-AC3D-CC081B69FA71}"/>
              </a:ext>
            </a:extLst>
          </p:cNvPr>
          <p:cNvSpPr txBox="1"/>
          <p:nvPr/>
        </p:nvSpPr>
        <p:spPr>
          <a:xfrm>
            <a:off x="7172844" y="2215313"/>
            <a:ext cx="2974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운송 이력 기반 매칭</a:t>
            </a:r>
            <a:endParaRPr lang="en-US" altLang="ko-KR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9" name="Rectangle 3">
            <a:extLst>
              <a:ext uri="{FF2B5EF4-FFF2-40B4-BE49-F238E27FC236}">
                <a16:creationId xmlns:a16="http://schemas.microsoft.com/office/drawing/2014/main" id="{BA5634A2-CAD8-2426-A584-167E0B975755}"/>
              </a:ext>
            </a:extLst>
          </p:cNvPr>
          <p:cNvSpPr/>
          <p:nvPr/>
        </p:nvSpPr>
        <p:spPr>
          <a:xfrm>
            <a:off x="7165222" y="3599631"/>
            <a:ext cx="2571078" cy="45719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Oval 20">
            <a:extLst>
              <a:ext uri="{FF2B5EF4-FFF2-40B4-BE49-F238E27FC236}">
                <a16:creationId xmlns:a16="http://schemas.microsoft.com/office/drawing/2014/main" id="{33B46437-316E-DB02-9C9F-ABE69415A0AA}"/>
              </a:ext>
            </a:extLst>
          </p:cNvPr>
          <p:cNvSpPr/>
          <p:nvPr/>
        </p:nvSpPr>
        <p:spPr>
          <a:xfrm>
            <a:off x="6439798" y="1428403"/>
            <a:ext cx="512064" cy="51206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sz="18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1F32DD3-B295-D753-DC53-3642FE90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5454B7C-781B-2325-8AB4-7C7DC98492BF}"/>
              </a:ext>
            </a:extLst>
          </p:cNvPr>
          <p:cNvSpPr txBox="1"/>
          <p:nvPr/>
        </p:nvSpPr>
        <p:spPr>
          <a:xfrm>
            <a:off x="837566" y="4349461"/>
            <a:ext cx="3140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채팅기능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6A197-E03E-B7EF-CFC6-6457B77705CA}"/>
              </a:ext>
            </a:extLst>
          </p:cNvPr>
          <p:cNvSpPr txBox="1"/>
          <p:nvPr/>
        </p:nvSpPr>
        <p:spPr>
          <a:xfrm>
            <a:off x="6218816" y="4219061"/>
            <a:ext cx="4139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텍스트 기반 분석 </a:t>
            </a:r>
            <a:r>
              <a:rPr lang="en-US" altLang="ko-KR" dirty="0"/>
              <a:t>&gt; AI </a:t>
            </a:r>
            <a:r>
              <a:rPr lang="ko-KR" altLang="en-US" dirty="0"/>
              <a:t>기반 분석으로 변경 </a:t>
            </a:r>
            <a:r>
              <a:rPr lang="en-US" altLang="ko-KR" dirty="0"/>
              <a:t>(vertex, </a:t>
            </a:r>
            <a:r>
              <a:rPr lang="en-US" altLang="ko-KR" dirty="0" err="1"/>
              <a:t>aws</a:t>
            </a:r>
            <a:r>
              <a:rPr lang="en-US" altLang="ko-KR" dirty="0"/>
              <a:t>, </a:t>
            </a:r>
            <a:r>
              <a:rPr lang="en-US" altLang="ko-KR" dirty="0" err="1"/>
              <a:t>olloma</a:t>
            </a:r>
            <a:r>
              <a:rPr lang="en-US" altLang="ko-KR" dirty="0"/>
              <a:t> </a:t>
            </a:r>
            <a:r>
              <a:rPr lang="ko-KR" altLang="en-US" dirty="0"/>
              <a:t>등 어렵진 않음 </a:t>
            </a:r>
            <a:r>
              <a:rPr lang="en-US" altLang="ko-KR" dirty="0"/>
              <a:t>, </a:t>
            </a:r>
            <a:r>
              <a:rPr lang="ko-KR" altLang="en-US" dirty="0"/>
              <a:t>당장 적용도 가능한데 차라리 빠르게 작업해버릴까</a:t>
            </a:r>
            <a:r>
              <a:rPr lang="en-US" altLang="ko-KR" dirty="0"/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0254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1E39F2-7DB1-C652-3333-F670ACCDF7C2}"/>
              </a:ext>
            </a:extLst>
          </p:cNvPr>
          <p:cNvSpPr txBox="1"/>
          <p:nvPr/>
        </p:nvSpPr>
        <p:spPr>
          <a:xfrm>
            <a:off x="502920" y="366605"/>
            <a:ext cx="9601200" cy="455509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감사합니다</a:t>
            </a:r>
            <a:r>
              <a:rPr lang="en-US" altLang="ko-KR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.</a:t>
            </a:r>
            <a:r>
              <a:rPr lang="ko-KR" altLang="en-US" sz="2600" b="1" dirty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sz="2600" b="1" dirty="0">
              <a:solidFill>
                <a:srgbClr val="1E293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64F6B1DB-AB88-C3E9-91BE-AFD40DA140E1}"/>
              </a:ext>
            </a:extLst>
          </p:cNvPr>
          <p:cNvSpPr/>
          <p:nvPr/>
        </p:nvSpPr>
        <p:spPr>
          <a:xfrm>
            <a:off x="548640" y="932688"/>
            <a:ext cx="1371600" cy="502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7030A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F9D3A6-9DD6-44F2-E525-86B085271C59}"/>
              </a:ext>
            </a:extLst>
          </p:cNvPr>
          <p:cNvSpPr txBox="1"/>
          <p:nvPr/>
        </p:nvSpPr>
        <p:spPr>
          <a:xfrm>
            <a:off x="2684929" y="4768246"/>
            <a:ext cx="68221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배포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https://firstroad.duckdns.org/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GitHub : https://github.com/cjc0623/Real_Pro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6F523A-B869-FC43-19DE-DC7D5C3F4A5E}"/>
              </a:ext>
            </a:extLst>
          </p:cNvPr>
          <p:cNvSpPr txBox="1"/>
          <p:nvPr/>
        </p:nvSpPr>
        <p:spPr>
          <a:xfrm>
            <a:off x="3157817" y="2253320"/>
            <a:ext cx="58763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600" dirty="0" err="1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QnA</a:t>
            </a:r>
            <a:endParaRPr lang="ko-KR" altLang="en-US" sz="96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E233D97-9BC2-AA70-67C1-1F7554A1E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5819" y="366605"/>
            <a:ext cx="1603261" cy="47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837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777</Words>
  <Application>Microsoft Office PowerPoint</Application>
  <PresentationFormat>와이드스크린</PresentationFormat>
  <Paragraphs>183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나눔고딕 ExtraBold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hallyms</cp:lastModifiedBy>
  <cp:revision>18</cp:revision>
  <dcterms:created xsi:type="dcterms:W3CDTF">2013-01-27T09:14:16Z</dcterms:created>
  <dcterms:modified xsi:type="dcterms:W3CDTF">2026-07-10T07:01:33Z</dcterms:modified>
  <cp:category/>
</cp:coreProperties>
</file>