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57" r:id="rId4"/>
    <p:sldId id="264" r:id="rId5"/>
    <p:sldId id="258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1896" y="1036053"/>
            <a:ext cx="10332720" cy="5486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2000" b="1" dirty="0" err="1">
                <a:solidFill>
                  <a:srgbClr val="7DD3FC"/>
                </a:solidFill>
                <a:latin typeface="맑은 고딕"/>
                <a:ea typeface="맑은 고딕"/>
                <a:cs typeface="맑은 고딕"/>
              </a:rPr>
              <a:t>화물운송</a:t>
            </a:r>
            <a:r>
              <a:rPr sz="2000" b="1" dirty="0">
                <a:solidFill>
                  <a:srgbClr val="7DD3FC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solidFill>
                  <a:srgbClr val="7DD3FC"/>
                </a:solidFill>
                <a:latin typeface="맑은 고딕"/>
                <a:ea typeface="맑은 고딕"/>
                <a:cs typeface="맑은 고딕"/>
              </a:rPr>
              <a:t>중개·관리</a:t>
            </a:r>
            <a:r>
              <a:rPr sz="2000" b="1" dirty="0">
                <a:solidFill>
                  <a:srgbClr val="7DD3FC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solidFill>
                  <a:srgbClr val="7DD3FC"/>
                </a:solidFill>
                <a:latin typeface="맑은 고딕"/>
                <a:ea typeface="맑은 고딕"/>
                <a:cs typeface="맑은 고딕"/>
              </a:rPr>
              <a:t>플랫폼</a:t>
            </a:r>
            <a:endParaRPr sz="2000" b="1" dirty="0">
              <a:solidFill>
                <a:srgbClr val="7DD3FC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1896" y="1941764"/>
            <a:ext cx="10332720" cy="1040285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lang="en-US" sz="64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First_Road</a:t>
            </a:r>
            <a:endParaRPr sz="64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1896" y="3339121"/>
            <a:ext cx="10332720" cy="4247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lang="ko-KR" altLang="en-US" sz="2400" b="0" dirty="0">
                <a:solidFill>
                  <a:srgbClr val="CBD5E1"/>
                </a:solidFill>
                <a:latin typeface="맑은 고딕"/>
                <a:ea typeface="맑은 고딕"/>
                <a:cs typeface="맑은 고딕"/>
              </a:rPr>
              <a:t>김기현</a:t>
            </a:r>
            <a:r>
              <a:rPr lang="en-US" altLang="ko-KR" sz="2400" b="0" dirty="0">
                <a:solidFill>
                  <a:srgbClr val="CBD5E1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2400" b="0" dirty="0" err="1">
                <a:solidFill>
                  <a:srgbClr val="CBD5E1"/>
                </a:solidFill>
                <a:latin typeface="맑은 고딕"/>
                <a:ea typeface="맑은 고딕"/>
                <a:cs typeface="맑은 고딕"/>
              </a:rPr>
              <a:t>김우근</a:t>
            </a:r>
            <a:r>
              <a:rPr lang="en-US" altLang="ko-KR" sz="2400" b="0" dirty="0">
                <a:solidFill>
                  <a:srgbClr val="CBD5E1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2400" b="0" dirty="0">
                <a:solidFill>
                  <a:srgbClr val="CBD5E1"/>
                </a:solidFill>
                <a:latin typeface="맑은 고딕"/>
                <a:ea typeface="맑은 고딕"/>
                <a:cs typeface="맑은 고딕"/>
              </a:rPr>
              <a:t>서준원</a:t>
            </a:r>
            <a:r>
              <a:rPr lang="en-US" altLang="ko-KR" sz="2400" b="0" dirty="0">
                <a:solidFill>
                  <a:srgbClr val="CBD5E1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2400" b="0" dirty="0">
                <a:solidFill>
                  <a:srgbClr val="CBD5E1"/>
                </a:solidFill>
                <a:latin typeface="맑은 고딕"/>
                <a:ea typeface="맑은 고딕"/>
                <a:cs typeface="맑은 고딕"/>
              </a:rPr>
              <a:t>최현민</a:t>
            </a:r>
            <a:r>
              <a:rPr lang="en-US" altLang="ko-KR" sz="2400" b="0" dirty="0">
                <a:solidFill>
                  <a:srgbClr val="CBD5E1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2400" b="0" dirty="0" err="1">
                <a:solidFill>
                  <a:srgbClr val="CBD5E1"/>
                </a:solidFill>
                <a:latin typeface="맑은 고딕"/>
                <a:ea typeface="맑은 고딕"/>
                <a:cs typeface="맑은 고딕"/>
              </a:rPr>
              <a:t>하승준</a:t>
            </a:r>
            <a:endParaRPr sz="2400" b="0" dirty="0">
              <a:solidFill>
                <a:srgbClr val="CBD5E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9447" y="4557278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62033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50" b="1" dirty="0">
                <a:solidFill>
                  <a:srgbClr val="E2E8F0"/>
                </a:solidFill>
                <a:latin typeface="맑은 고딕"/>
                <a:ea typeface="맑은 고딕"/>
                <a:cs typeface="맑은 고딕"/>
              </a:rPr>
              <a:t>Spring Boot 3.5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5679" y="4541142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62033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50" b="1">
                <a:solidFill>
                  <a:srgbClr val="E2E8F0"/>
                </a:solidFill>
                <a:latin typeface="맑은 고딕"/>
                <a:ea typeface="맑은 고딕"/>
                <a:cs typeface="맑은 고딕"/>
              </a:rPr>
              <a:t>Java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1911" y="4541142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62033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50" b="1">
                <a:solidFill>
                  <a:srgbClr val="E2E8F0"/>
                </a:solidFill>
                <a:latin typeface="맑은 고딕"/>
                <a:ea typeface="맑은 고딕"/>
                <a:cs typeface="맑은 고딕"/>
              </a:rPr>
              <a:t>React 19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449" y="4557278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62033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50" b="1" dirty="0">
                <a:solidFill>
                  <a:srgbClr val="E2E8F0"/>
                </a:solidFill>
                <a:latin typeface="맑은 고딕"/>
                <a:ea typeface="맑은 고딕"/>
                <a:cs typeface="맑은 고딕"/>
              </a:rPr>
              <a:t>Redux Toolkit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4681" y="4557278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62033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50" b="1">
                <a:solidFill>
                  <a:srgbClr val="E2E8F0"/>
                </a:solidFill>
                <a:latin typeface="맑은 고딕"/>
                <a:ea typeface="맑은 고딕"/>
                <a:cs typeface="맑은 고딕"/>
              </a:rPr>
              <a:t>MariaDB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90913" y="4557278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62033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50" b="1" dirty="0">
                <a:solidFill>
                  <a:srgbClr val="E2E8F0"/>
                </a:solidFill>
                <a:latin typeface="맑은 고딕"/>
                <a:ea typeface="맑은 고딕"/>
                <a:cs typeface="맑은 고딕"/>
              </a:rPr>
              <a:t>JWT · OAuth2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A1822D-1956-D9DC-DFD3-BD8DD9F39226}"/>
              </a:ext>
            </a:extLst>
          </p:cNvPr>
          <p:cNvSpPr txBox="1"/>
          <p:nvPr/>
        </p:nvSpPr>
        <p:spPr>
          <a:xfrm>
            <a:off x="609447" y="5595537"/>
            <a:ext cx="10332720" cy="4247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https://</a:t>
            </a:r>
            <a:r>
              <a:rPr lang="en-US" altLang="ko-KR" sz="2400" dirty="0">
                <a:solidFill>
                  <a:schemeClr val="bg1"/>
                </a:solidFill>
                <a:latin typeface="+mn-ea"/>
                <a:cs typeface="Pretendard Regular"/>
              </a:rPr>
              <a:t>github</a:t>
            </a:r>
            <a:r>
              <a:rPr lang="en-US" altLang="ko-KR" sz="24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.com/cjc0623/Real_Pro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8326DA-1A22-9373-1094-8C5DC3171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2688"/>
            <a:ext cx="12192000" cy="5775158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545DE04C-6DCB-8206-C28E-8B74D86E0B39}"/>
              </a:ext>
            </a:extLst>
          </p:cNvPr>
          <p:cNvSpPr/>
          <p:nvPr/>
        </p:nvSpPr>
        <p:spPr>
          <a:xfrm>
            <a:off x="548640" y="932688"/>
            <a:ext cx="1371600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838ACD-3F58-5664-0F7B-1D08679F4987}"/>
              </a:ext>
            </a:extLst>
          </p:cNvPr>
          <p:cNvSpPr txBox="1"/>
          <p:nvPr/>
        </p:nvSpPr>
        <p:spPr>
          <a:xfrm>
            <a:off x="502920" y="366605"/>
            <a:ext cx="9601200" cy="455509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lang="ko-KR" altLang="en-US" sz="2600" b="1" dirty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프로젝트 소개</a:t>
            </a:r>
            <a:endParaRPr sz="2600" b="1" dirty="0">
              <a:solidFill>
                <a:srgbClr val="1E293B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5E291563-D2E6-9805-60C7-431EA40FA5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4462" y="932688"/>
            <a:ext cx="3068898" cy="5558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976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48640" y="932688"/>
            <a:ext cx="1371600" cy="50292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7030A0"/>
              </a:solidFill>
            </a:endParaRP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ACB526C4-9CFE-F82E-3609-B44475B15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037" y="1016008"/>
            <a:ext cx="4119184" cy="516810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66605"/>
            <a:ext cx="9601200" cy="455509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lang="ko-KR" altLang="en-US" sz="2600" b="1" dirty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전체 </a:t>
            </a:r>
            <a:r>
              <a:rPr sz="2600" b="1" dirty="0" err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아키텍처</a:t>
            </a:r>
            <a:r>
              <a:rPr lang="en-US" sz="2600" b="1" dirty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2600" b="1" dirty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및 테이블 구조</a:t>
            </a:r>
            <a:endParaRPr sz="2600" b="1" dirty="0">
              <a:solidFill>
                <a:srgbClr val="1E293B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491CDE24-C6B7-394E-7E16-8974D5597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16008"/>
            <a:ext cx="5749319" cy="5102045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4F13A3F3-A0E1-FFBE-B880-C720998B0C82}"/>
              </a:ext>
            </a:extLst>
          </p:cNvPr>
          <p:cNvSpPr txBox="1"/>
          <p:nvPr/>
        </p:nvSpPr>
        <p:spPr>
          <a:xfrm>
            <a:off x="727037" y="6308781"/>
            <a:ext cx="2386405" cy="36522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2000" b="1" dirty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시스템 아키텍처 </a:t>
            </a:r>
            <a:endParaRPr sz="2000" b="0" dirty="0">
              <a:solidFill>
                <a:srgbClr val="64748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047EBC1-0034-FDDA-8828-51736F6B73A1}"/>
              </a:ext>
            </a:extLst>
          </p:cNvPr>
          <p:cNvSpPr txBox="1"/>
          <p:nvPr/>
        </p:nvSpPr>
        <p:spPr>
          <a:xfrm>
            <a:off x="6096000" y="6308781"/>
            <a:ext cx="2386405" cy="36522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2000" b="1" dirty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테이블 구조 </a:t>
            </a:r>
            <a:endParaRPr sz="2000" b="0" dirty="0">
              <a:solidFill>
                <a:srgbClr val="64748B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E37756EB-5A08-B7A0-A81A-11812F5F718F}"/>
              </a:ext>
            </a:extLst>
          </p:cNvPr>
          <p:cNvSpPr/>
          <p:nvPr/>
        </p:nvSpPr>
        <p:spPr>
          <a:xfrm>
            <a:off x="548640" y="932688"/>
            <a:ext cx="1371600" cy="50292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7030A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4A4C01-FD72-8920-C108-5A334D941DBD}"/>
              </a:ext>
            </a:extLst>
          </p:cNvPr>
          <p:cNvSpPr txBox="1"/>
          <p:nvPr/>
        </p:nvSpPr>
        <p:spPr>
          <a:xfrm>
            <a:off x="502920" y="366605"/>
            <a:ext cx="9601200" cy="455509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lang="ko-KR" altLang="en-US" sz="2600" b="1" dirty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주요 </a:t>
            </a:r>
            <a:r>
              <a:rPr sz="2600" b="1" dirty="0" err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아키텍처</a:t>
            </a:r>
            <a:r>
              <a:rPr lang="en-US" sz="2600" b="1" dirty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2600" b="1" dirty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및 테이블 구조</a:t>
            </a:r>
            <a:endParaRPr sz="2600" b="1" dirty="0">
              <a:solidFill>
                <a:srgbClr val="1E293B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358650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601200" cy="64008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2600" b="1" dirty="0" err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핵심</a:t>
            </a:r>
            <a:r>
              <a:rPr sz="2600" b="1" dirty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600" b="1" dirty="0" err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거래</a:t>
            </a:r>
            <a:r>
              <a:rPr sz="2600" b="1" dirty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600" b="1" dirty="0" err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흐름</a:t>
            </a:r>
            <a:endParaRPr sz="2600" b="1" dirty="0">
              <a:solidFill>
                <a:srgbClr val="1E293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1371600" cy="50292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0880" y="384048"/>
            <a:ext cx="4663440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/>
            <a:r>
              <a:rPr sz="1200" b="0" dirty="0" err="1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화주·차주가</a:t>
            </a:r>
            <a:r>
              <a:rPr sz="1200" b="0" dirty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만드는</a:t>
            </a:r>
            <a:r>
              <a:rPr sz="1200" b="0" dirty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 6단계 </a:t>
            </a:r>
            <a:r>
              <a:rPr sz="1200" b="0" dirty="0" err="1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파이프라인</a:t>
            </a:r>
            <a:endParaRPr sz="1200" b="0" dirty="0">
              <a:solidFill>
                <a:srgbClr val="64748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2539746"/>
            <a:ext cx="1635709" cy="246888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10462" y="2722626"/>
            <a:ext cx="512064" cy="51206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3362706"/>
            <a:ext cx="1489405" cy="457200"/>
          </a:xfrm>
          <a:prstGeom prst="roundRect">
            <a:avLst>
              <a:gd name="adj" fmla="val 10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7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견적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838194"/>
            <a:ext cx="1544269" cy="2560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050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Estimate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112514"/>
            <a:ext cx="1416253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화주가 출발·도착·거리·화물을 입력 → 요금 자동 계산·발송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2446" y="4990338"/>
            <a:ext cx="768096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화주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02637" y="3591306"/>
            <a:ext cx="237744" cy="0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458669" y="2539746"/>
            <a:ext cx="1635709" cy="2468880"/>
          </a:xfrm>
          <a:prstGeom prst="roundRect">
            <a:avLst>
              <a:gd name="adj" fmla="val 6000"/>
            </a:avLst>
          </a:prstGeom>
          <a:solidFill>
            <a:srgbClr val="E7F6FE"/>
          </a:solidFill>
          <a:ln w="19050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020491" y="2722626"/>
            <a:ext cx="512064" cy="51206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31821" y="3362706"/>
            <a:ext cx="1489405" cy="457200"/>
          </a:xfrm>
          <a:prstGeom prst="roundRect">
            <a:avLst>
              <a:gd name="adj" fmla="val 10000"/>
            </a:avLst>
          </a:prstGeom>
          <a:solidFill>
            <a:srgbClr val="E7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700" b="1">
                <a:solidFill>
                  <a:srgbClr val="0EA5E9"/>
                </a:solidFill>
                <a:latin typeface="맑은 고딕"/>
                <a:ea typeface="맑은 고딕"/>
                <a:cs typeface="맑은 고딕"/>
              </a:rPr>
              <a:t>매칭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4389" y="3838194"/>
            <a:ext cx="1544269" cy="2560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050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Matching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8397" y="4112514"/>
            <a:ext cx="1416253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차주가 견적을 수락/거절 → 화주-차주 연결 성사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92475" y="4990338"/>
            <a:ext cx="768096" cy="310896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차주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12666" y="3591306"/>
            <a:ext cx="237744" cy="0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68698" y="2539746"/>
            <a:ext cx="1635709" cy="2468880"/>
          </a:xfrm>
          <a:prstGeom prst="roundRect">
            <a:avLst>
              <a:gd name="adj" fmla="val 6000"/>
            </a:avLst>
          </a:prstGeom>
          <a:solidFill>
            <a:srgbClr val="ECFDF7"/>
          </a:solidFill>
          <a:ln w="19050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930520" y="2722626"/>
            <a:ext cx="512064" cy="51206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1850" y="3362706"/>
            <a:ext cx="1489405" cy="457200"/>
          </a:xfrm>
          <a:prstGeom prst="roundRect">
            <a:avLst>
              <a:gd name="adj" fmla="val 10000"/>
            </a:avLst>
          </a:prstGeom>
          <a:solidFill>
            <a:srgbClr val="EC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주문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4418" y="3838194"/>
            <a:ext cx="1544269" cy="2560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050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Order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8426" y="4112514"/>
            <a:ext cx="1416253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확정 매칭 기반 주문서 생성 · 쿠폰/금액 확정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02504" y="4990338"/>
            <a:ext cx="768096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화주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22695" y="3591306"/>
            <a:ext cx="237744" cy="0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278727" y="2539746"/>
            <a:ext cx="1635709" cy="2468880"/>
          </a:xfrm>
          <a:prstGeom prst="roundRect">
            <a:avLst>
              <a:gd name="adj" fmla="val 6000"/>
            </a:avLst>
          </a:prstGeom>
          <a:solidFill>
            <a:srgbClr val="E0E7FF"/>
          </a:solidFill>
          <a:ln w="1905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840550" y="2722626"/>
            <a:ext cx="512064" cy="512064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1879" y="3362706"/>
            <a:ext cx="1489405" cy="457200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700" b="1">
                <a:solidFill>
                  <a:srgbClr val="4338CA"/>
                </a:solidFill>
                <a:latin typeface="맑은 고딕"/>
                <a:ea typeface="맑은 고딕"/>
                <a:cs typeface="맑은 고딕"/>
              </a:rPr>
              <a:t>결제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4447" y="3838194"/>
            <a:ext cx="1544269" cy="2560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050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Payment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8455" y="4112514"/>
            <a:ext cx="1416253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PortOne / 직접결제로 결제 완료 → 배송 개시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12534" y="4990338"/>
            <a:ext cx="768096" cy="310896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화주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932724" y="3591306"/>
            <a:ext cx="237744" cy="0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188756" y="2539746"/>
            <a:ext cx="1635709" cy="246888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9050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750579" y="2722626"/>
            <a:ext cx="512064" cy="512064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61908" y="3362706"/>
            <a:ext cx="1489405" cy="45720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700" b="1">
                <a:solidFill>
                  <a:srgbClr val="D97706"/>
                </a:solidFill>
                <a:latin typeface="맑은 고딕"/>
                <a:ea typeface="맑은 고딕"/>
                <a:cs typeface="맑은 고딕"/>
              </a:rPr>
              <a:t>배송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34476" y="3838194"/>
            <a:ext cx="1544269" cy="2560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050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Delivery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98484" y="4112514"/>
            <a:ext cx="1416253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차주 운송: 대기→운송중→완료, 완료 메일 발송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22563" y="4990338"/>
            <a:ext cx="768096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차주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842753" y="3591306"/>
            <a:ext cx="237745" cy="0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10098786" y="2539746"/>
            <a:ext cx="1635709" cy="2468880"/>
          </a:xfrm>
          <a:prstGeom prst="roundRect">
            <a:avLst>
              <a:gd name="adj" fmla="val 6000"/>
            </a:avLst>
          </a:prstGeom>
          <a:solidFill>
            <a:srgbClr val="FDF2F8"/>
          </a:solidFill>
          <a:ln w="19050">
            <a:solidFill>
              <a:srgbClr val="FBC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0660608" y="2722626"/>
            <a:ext cx="512064" cy="512064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171938" y="3362706"/>
            <a:ext cx="1489405" cy="457200"/>
          </a:xfrm>
          <a:prstGeom prst="roundRect">
            <a:avLst>
              <a:gd name="adj" fmla="val 10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700" b="1">
                <a:solidFill>
                  <a:srgbClr val="DB2777"/>
                </a:solidFill>
                <a:latin typeface="맑은 고딕"/>
                <a:ea typeface="맑은 고딕"/>
                <a:cs typeface="맑은 고딕"/>
              </a:rPr>
              <a:t>리뷰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44506" y="3838194"/>
            <a:ext cx="1544269" cy="2560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050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Review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08514" y="4112514"/>
            <a:ext cx="1416253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dirty="0" err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화주</a:t>
            </a:r>
            <a:r>
              <a:rPr sz="1000" b="0" dirty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리뷰</a:t>
            </a:r>
            <a:r>
              <a:rPr sz="1000" b="0" dirty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작성</a:t>
            </a:r>
            <a:r>
              <a:rPr sz="1000" b="0" dirty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1000" b="0" dirty="0" err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감성분석</a:t>
            </a:r>
            <a:r>
              <a:rPr sz="1000" b="0" dirty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기반</a:t>
            </a:r>
            <a:r>
              <a:rPr sz="1000" b="0" dirty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기사</a:t>
            </a:r>
            <a:r>
              <a:rPr sz="1000" b="0" dirty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신뢰점수</a:t>
            </a:r>
            <a:endParaRPr sz="1000" b="0" dirty="0">
              <a:solidFill>
                <a:srgbClr val="1E293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10532592" y="4990338"/>
            <a:ext cx="768096" cy="310896"/>
          </a:xfrm>
          <a:prstGeom prst="roundRect">
            <a:avLst>
              <a:gd name="adj" fmla="val 50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9C5718-99ED-DDE2-522B-C6C4E383EF8E}"/>
              </a:ext>
            </a:extLst>
          </p:cNvPr>
          <p:cNvSpPr txBox="1"/>
          <p:nvPr/>
        </p:nvSpPr>
        <p:spPr>
          <a:xfrm>
            <a:off x="502920" y="366605"/>
            <a:ext cx="9601200" cy="455509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lang="ko-KR" altLang="en-US" sz="2600" b="1" dirty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트러블 슈팅</a:t>
            </a:r>
            <a:endParaRPr sz="2600" b="1" dirty="0">
              <a:solidFill>
                <a:srgbClr val="1E293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806FB61-838C-2C83-5268-84C38C34AA5B}"/>
              </a:ext>
            </a:extLst>
          </p:cNvPr>
          <p:cNvSpPr/>
          <p:nvPr/>
        </p:nvSpPr>
        <p:spPr>
          <a:xfrm>
            <a:off x="548640" y="932688"/>
            <a:ext cx="1371600" cy="50292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722243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794BC7-CC49-B52D-C14C-A7CA2EA806C0}"/>
              </a:ext>
            </a:extLst>
          </p:cNvPr>
          <p:cNvSpPr txBox="1"/>
          <p:nvPr/>
        </p:nvSpPr>
        <p:spPr>
          <a:xfrm>
            <a:off x="502920" y="366605"/>
            <a:ext cx="9601200" cy="455509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lang="ko-KR" altLang="en-US" sz="2600" b="1" dirty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향후 개선 사항</a:t>
            </a:r>
            <a:endParaRPr sz="2600" b="1" dirty="0">
              <a:solidFill>
                <a:srgbClr val="1E293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08D3200-E4D4-0CB5-ECAF-A8F640B40173}"/>
              </a:ext>
            </a:extLst>
          </p:cNvPr>
          <p:cNvSpPr/>
          <p:nvPr/>
        </p:nvSpPr>
        <p:spPr>
          <a:xfrm>
            <a:off x="548640" y="932688"/>
            <a:ext cx="1371600" cy="5029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0254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1E39F2-7DB1-C652-3333-F670ACCDF7C2}"/>
              </a:ext>
            </a:extLst>
          </p:cNvPr>
          <p:cNvSpPr txBox="1"/>
          <p:nvPr/>
        </p:nvSpPr>
        <p:spPr>
          <a:xfrm>
            <a:off x="502920" y="366605"/>
            <a:ext cx="9601200" cy="455509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lang="ko-KR" altLang="en-US" sz="2600" b="1" dirty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마무리 페이지 </a:t>
            </a:r>
            <a:r>
              <a:rPr lang="en-US" altLang="ko-KR" sz="2600" b="1" dirty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lang="ko-KR" altLang="en-US" sz="2600" b="1" dirty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감사합니다</a:t>
            </a:r>
            <a:r>
              <a:rPr lang="en-US" altLang="ko-KR" sz="2600" b="1" dirty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) / </a:t>
            </a:r>
            <a:r>
              <a:rPr lang="ko-KR" altLang="en-US" sz="2600" b="1" dirty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이미지 넣어 마무리 할 것</a:t>
            </a:r>
            <a:endParaRPr sz="2600" b="1" dirty="0">
              <a:solidFill>
                <a:srgbClr val="1E293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4F6B1DB-AB88-C3E9-91BE-AFD40DA140E1}"/>
              </a:ext>
            </a:extLst>
          </p:cNvPr>
          <p:cNvSpPr/>
          <p:nvPr/>
        </p:nvSpPr>
        <p:spPr>
          <a:xfrm>
            <a:off x="548640" y="932688"/>
            <a:ext cx="1371600" cy="5029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3837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171</Words>
  <Application>Microsoft Office PowerPoint</Application>
  <PresentationFormat>와이드스크린</PresentationFormat>
  <Paragraphs>50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Pretendard Regular</vt:lpstr>
      <vt:lpstr>Arial</vt:lpstr>
      <vt:lpstr>Calibri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hallyms</cp:lastModifiedBy>
  <cp:revision>3</cp:revision>
  <dcterms:created xsi:type="dcterms:W3CDTF">2013-01-27T09:14:16Z</dcterms:created>
  <dcterms:modified xsi:type="dcterms:W3CDTF">2026-07-06T05:47:01Z</dcterms:modified>
  <cp:category/>
</cp:coreProperties>
</file>